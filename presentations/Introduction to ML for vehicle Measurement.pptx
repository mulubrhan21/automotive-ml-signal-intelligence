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9" r:id="rId11"/>
    <p:sldId id="270" r:id="rId12"/>
    <p:sldId id="271" r:id="rId13"/>
    <p:sldId id="272" r:id="rId14"/>
    <p:sldId id="274" r:id="rId15"/>
    <p:sldId id="27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97F9C4-BE91-4172-9208-E0F56A25F61A}" v="100" dt="2026-07-03T10:38:51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01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2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45.png"/><Relationship Id="rId4" Type="http://schemas.openxmlformats.org/officeDocument/2006/relationships/image" Target="../media/image4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2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9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19.pn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ata-visualization-of-electric-vehicle-te_2026-07-01T12-39-57_image_DAS_0.jpg"/>
          <p:cNvPicPr>
            <a:picLocks noChangeAspect="1"/>
          </p:cNvPicPr>
          <p:nvPr/>
        </p:nvPicPr>
        <p:blipFill>
          <a:blip r:embed="rId3"/>
          <a:srcRect t="6272" b="627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A2F">
              <a:alpha val="68000"/>
            </a:srgbClr>
          </a:solidFill>
          <a:ln/>
        </p:spPr>
        <p:txBody>
          <a:bodyPr/>
          <a:lstStyle/>
          <a:p>
            <a:endParaRPr lang="en-SE" dirty="0"/>
          </a:p>
        </p:txBody>
      </p:sp>
      <p:sp>
        <p:nvSpPr>
          <p:cNvPr id="6" name="Text 3"/>
          <p:cNvSpPr/>
          <p:nvPr/>
        </p:nvSpPr>
        <p:spPr>
          <a:xfrm>
            <a:off x="640080" y="93268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DATA ANALYTICS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41248" y="179451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for</a:t>
            </a:r>
            <a:endParaRPr lang="en-US" sz="4200" b="1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Signal Analytics</a:t>
            </a:r>
            <a:endParaRPr lang="en-US" sz="4200" b="1" dirty="0"/>
          </a:p>
        </p:txBody>
      </p:sp>
      <p:sp>
        <p:nvSpPr>
          <p:cNvPr id="9" name="Shape 6"/>
          <p:cNvSpPr/>
          <p:nvPr/>
        </p:nvSpPr>
        <p:spPr>
          <a:xfrm>
            <a:off x="658368" y="4041648"/>
            <a:ext cx="41148" cy="4572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Text 7"/>
          <p:cNvSpPr/>
          <p:nvPr/>
        </p:nvSpPr>
        <p:spPr>
          <a:xfrm>
            <a:off x="841248" y="4023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CCF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
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Mulubrhan A. Nerea </a:t>
            </a:r>
            <a:r>
              <a:rPr lang="en-US" sz="1500" b="1" dirty="0">
                <a:solidFill>
                  <a:srgbClr val="FFFFFF"/>
                </a:solidFill>
                <a:highlight>
                  <a:srgbClr val="FFFF00"/>
                </a:highligh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</a:rPr>
              <a:t>Summer Worker</a:t>
            </a:r>
            <a:endParaRPr lang="en-US" sz="10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6A6CD51-170F-9862-E508-79F2FBFDBFC8}"/>
              </a:ext>
            </a:extLst>
          </p:cNvPr>
          <p:cNvSpPr/>
          <p:nvPr/>
        </p:nvSpPr>
        <p:spPr>
          <a:xfrm>
            <a:off x="7349487" y="4498848"/>
            <a:ext cx="1705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BCCFE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</a:rPr>
              <a:t>July 2026</a:t>
            </a:r>
            <a:endParaRPr lang="en-US" sz="12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0" name="Volvo footer"/>
          <p:cNvSpPr/>
          <p:nvPr/>
        </p:nvSpPr>
        <p:spPr>
          <a:xfrm>
            <a:off x="640080" y="4760000"/>
            <a:ext cx="30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>
                <a:solidFill>
                  <a:srgbClr val="22D3EE"/>
                </a:solidFill>
                <a:latin typeface="Trebuchet MS" pitchFamily="34" charset="0"/>
              </a:rPr>
              <a:t>VOLVO</a:t>
            </a:r>
          </a:p>
        </p:txBody>
      </p:sp>
      <p:sp>
        <p:nvSpPr>
          <p:cNvPr id="991" name="Signal underline"/>
          <p:cNvSpPr/>
          <p:nvPr/>
        </p:nvSpPr>
        <p:spPr>
          <a:xfrm>
            <a:off x="2239741" y="3165822"/>
            <a:ext cx="5109745" cy="183168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Machine Learning?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298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we collect thousands of vehicle signals.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1755648"/>
            <a:ext cx="2354580" cy="564642"/>
          </a:xfrm>
          <a:prstGeom prst="roundRect">
            <a:avLst>
              <a:gd name="adj" fmla="val 97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3"/>
          <p:cNvSpPr/>
          <p:nvPr/>
        </p:nvSpPr>
        <p:spPr>
          <a:xfrm>
            <a:off x="676656" y="1845945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8" y="1938117"/>
            <a:ext cx="199705" cy="19970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1755648"/>
            <a:ext cx="162306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Torque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086100" y="1755648"/>
            <a:ext cx="2354580" cy="564642"/>
          </a:xfrm>
          <a:prstGeom prst="roundRect">
            <a:avLst>
              <a:gd name="adj" fmla="val 97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Shape 16"/>
          <p:cNvSpPr/>
          <p:nvPr/>
        </p:nvSpPr>
        <p:spPr>
          <a:xfrm>
            <a:off x="3214116" y="1845945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288" y="1938117"/>
            <a:ext cx="199705" cy="19970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26180" y="1755648"/>
            <a:ext cx="162306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 speed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2375290"/>
            <a:ext cx="2354580" cy="564642"/>
          </a:xfrm>
          <a:prstGeom prst="roundRect">
            <a:avLst>
              <a:gd name="adj" fmla="val 97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Shape 19"/>
          <p:cNvSpPr/>
          <p:nvPr/>
        </p:nvSpPr>
        <p:spPr>
          <a:xfrm>
            <a:off x="676656" y="2465587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28" y="2557759"/>
            <a:ext cx="199705" cy="19970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2375290"/>
            <a:ext cx="162306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Battery voltage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3086100" y="2375290"/>
            <a:ext cx="2354580" cy="564642"/>
          </a:xfrm>
          <a:prstGeom prst="roundRect">
            <a:avLst>
              <a:gd name="adj" fmla="val 97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Shape 22"/>
          <p:cNvSpPr/>
          <p:nvPr/>
        </p:nvSpPr>
        <p:spPr>
          <a:xfrm>
            <a:off x="3214116" y="2465587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6288" y="2557759"/>
            <a:ext cx="199705" cy="19970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726180" y="2375290"/>
            <a:ext cx="162306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48640" y="2994932"/>
            <a:ext cx="2354580" cy="564642"/>
          </a:xfrm>
          <a:prstGeom prst="roundRect">
            <a:avLst>
              <a:gd name="adj" fmla="val 97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1" name="Shape 25"/>
          <p:cNvSpPr/>
          <p:nvPr/>
        </p:nvSpPr>
        <p:spPr>
          <a:xfrm>
            <a:off x="676656" y="3085229"/>
            <a:ext cx="384048" cy="38404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828" y="3177401"/>
            <a:ext cx="199705" cy="19970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88720" y="2994932"/>
            <a:ext cx="162306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Brake pressure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3086100" y="2994932"/>
            <a:ext cx="2354580" cy="564642"/>
          </a:xfrm>
          <a:prstGeom prst="roundRect">
            <a:avLst>
              <a:gd name="adj" fmla="val 97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Shape 28"/>
          <p:cNvSpPr/>
          <p:nvPr/>
        </p:nvSpPr>
        <p:spPr>
          <a:xfrm>
            <a:off x="3214116" y="3085229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6288" y="3177401"/>
            <a:ext cx="199705" cy="19970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26180" y="2994932"/>
            <a:ext cx="162306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pedal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548640" y="3614574"/>
            <a:ext cx="2354580" cy="564642"/>
          </a:xfrm>
          <a:prstGeom prst="roundRect">
            <a:avLst>
              <a:gd name="adj" fmla="val 97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9" name="Shape 31"/>
          <p:cNvSpPr/>
          <p:nvPr/>
        </p:nvSpPr>
        <p:spPr>
          <a:xfrm>
            <a:off x="676656" y="3704871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828" y="3797043"/>
            <a:ext cx="199705" cy="19970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188720" y="3614574"/>
            <a:ext cx="1623060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Steering angle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5823188" y="1693501"/>
            <a:ext cx="2871948" cy="970296"/>
          </a:xfrm>
          <a:prstGeom prst="roundRect">
            <a:avLst>
              <a:gd name="adj" fmla="val 4571"/>
            </a:avLst>
          </a:prstGeom>
          <a:solidFill>
            <a:srgbClr val="173A63"/>
          </a:solidFill>
          <a:ln w="15875">
            <a:solidFill>
              <a:srgbClr val="38BDF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3" name="Text 34"/>
          <p:cNvSpPr/>
          <p:nvPr/>
        </p:nvSpPr>
        <p:spPr>
          <a:xfrm>
            <a:off x="5852160" y="1693500"/>
            <a:ext cx="2842976" cy="1063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automatically discover useful information from these signals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Shape 35"/>
          <p:cNvSpPr/>
          <p:nvPr/>
        </p:nvSpPr>
        <p:spPr>
          <a:xfrm>
            <a:off x="5517292" y="3552308"/>
            <a:ext cx="3315619" cy="755935"/>
          </a:xfrm>
          <a:prstGeom prst="roundRect">
            <a:avLst>
              <a:gd name="adj" fmla="val 7619"/>
            </a:avLst>
          </a:prstGeom>
          <a:solidFill>
            <a:srgbClr val="0E2038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 dirty="0"/>
          </a:p>
        </p:txBody>
      </p:sp>
      <p:sp>
        <p:nvSpPr>
          <p:cNvPr id="45" name="Text 36"/>
          <p:cNvSpPr/>
          <p:nvPr/>
        </p:nvSpPr>
        <p:spPr>
          <a:xfrm>
            <a:off x="5608732" y="3653138"/>
            <a:ext cx="3086404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BBF24"/>
                </a:solidFill>
                <a:cs typeface="Calibri"/>
              </a:rPr>
              <a:t>Manual limit: Time consuming, too slow to scale</a:t>
            </a:r>
            <a:r>
              <a:rPr lang="en-US" sz="1100" dirty="0">
                <a:solidFill>
                  <a:srgbClr val="EAF2FF"/>
                </a:solidFill>
                <a:cs typeface="Calibri"/>
              </a:rPr>
              <a:t>.</a:t>
            </a:r>
          </a:p>
          <a:p>
            <a:pPr algn="ctr"/>
            <a:r>
              <a:rPr lang="en-US" sz="1100" b="1" dirty="0">
                <a:solidFill>
                  <a:srgbClr val="2DD4BF"/>
                </a:solidFill>
                <a:cs typeface="Calibri"/>
              </a:rPr>
              <a:t>ML : </a:t>
            </a:r>
            <a:r>
              <a:rPr lang="en-US" sz="1100" dirty="0">
                <a:solidFill>
                  <a:srgbClr val="EAF2FF"/>
                </a:solidFill>
                <a:cs typeface="Calibri"/>
              </a:rPr>
              <a:t>finds patterns automatically, Predication, Early Fault detection.</a:t>
            </a:r>
            <a:endParaRPr lang="en-US" sz="1100" dirty="0"/>
          </a:p>
          <a:p>
            <a:pPr marL="0" indent="0" algn="ctr">
              <a:buNone/>
            </a:pPr>
            <a:endParaRPr lang="en-US" sz="105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70" name="Signal underline"/>
          <p:cNvSpPr/>
          <p:nvPr/>
        </p:nvSpPr>
        <p:spPr>
          <a:xfrm>
            <a:off x="548640" y="965000"/>
            <a:ext cx="3535268" cy="141832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AEA33-52B2-79C8-AC6D-C94CA72FDFE7}"/>
              </a:ext>
            </a:extLst>
          </p:cNvPr>
          <p:cNvSpPr txBox="1"/>
          <p:nvPr/>
        </p:nvSpPr>
        <p:spPr>
          <a:xfrm>
            <a:off x="5823188" y="2791055"/>
            <a:ext cx="300972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r>
              <a:rPr lang="en-US" sz="1800" b="1" dirty="0"/>
              <a:t> </a:t>
            </a:r>
            <a:r>
              <a:rPr lang="en-US" sz="16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TODAY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Current Workflow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930075" cy="105156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2"/>
          <p:cNvSpPr/>
          <p:nvPr/>
        </p:nvSpPr>
        <p:spPr>
          <a:xfrm>
            <a:off x="812510" y="156362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70" y="1660185"/>
            <a:ext cx="209215" cy="20921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5216" y="2020824"/>
            <a:ext cx="8569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460427" y="14173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734747" y="1417320"/>
            <a:ext cx="930075" cy="105156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Shape 16"/>
          <p:cNvSpPr/>
          <p:nvPr/>
        </p:nvSpPr>
        <p:spPr>
          <a:xfrm>
            <a:off x="1998617" y="156362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178" y="1660185"/>
            <a:ext cx="209215" cy="20921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71323" y="2020824"/>
            <a:ext cx="8569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Sensors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646535" y="14173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2920855" y="1417320"/>
            <a:ext cx="930075" cy="105156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Shape 20"/>
          <p:cNvSpPr/>
          <p:nvPr/>
        </p:nvSpPr>
        <p:spPr>
          <a:xfrm>
            <a:off x="3184725" y="156362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285" y="1660185"/>
            <a:ext cx="209215" cy="20921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957431" y="2020824"/>
            <a:ext cx="8569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 Recording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3832642" y="14173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4106962" y="1417320"/>
            <a:ext cx="930075" cy="105156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Shape 24"/>
          <p:cNvSpPr/>
          <p:nvPr/>
        </p:nvSpPr>
        <p:spPr>
          <a:xfrm>
            <a:off x="4370832" y="156362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7393" y="1660185"/>
            <a:ext cx="209215" cy="20921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143538" y="2020824"/>
            <a:ext cx="8569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MDF / MF4 / MSG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018750" y="14173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5293070" y="1417320"/>
            <a:ext cx="930075" cy="105156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Shape 28"/>
          <p:cNvSpPr/>
          <p:nvPr/>
        </p:nvSpPr>
        <p:spPr>
          <a:xfrm>
            <a:off x="5556939" y="156362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500" y="1660185"/>
            <a:ext cx="209215" cy="20921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29646" y="2020824"/>
            <a:ext cx="8569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6204857" y="14173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Shape 31"/>
          <p:cNvSpPr/>
          <p:nvPr/>
        </p:nvSpPr>
        <p:spPr>
          <a:xfrm>
            <a:off x="6479177" y="1417320"/>
            <a:ext cx="930075" cy="105156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9" name="Shape 32"/>
          <p:cNvSpPr/>
          <p:nvPr/>
        </p:nvSpPr>
        <p:spPr>
          <a:xfrm>
            <a:off x="6743047" y="156362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607" y="1660185"/>
            <a:ext cx="209215" cy="20921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515753" y="2020824"/>
            <a:ext cx="8569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Plots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7390965" y="14173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43" name="Shape 35"/>
          <p:cNvSpPr/>
          <p:nvPr/>
        </p:nvSpPr>
        <p:spPr>
          <a:xfrm>
            <a:off x="7665285" y="1417320"/>
            <a:ext cx="930075" cy="105156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4" name="Shape 36"/>
          <p:cNvSpPr/>
          <p:nvPr/>
        </p:nvSpPr>
        <p:spPr>
          <a:xfrm>
            <a:off x="7929154" y="156362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5715" y="1660185"/>
            <a:ext cx="209215" cy="209215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701861" y="2020824"/>
            <a:ext cx="85692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analysis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548640" y="2788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when we have…</a:t>
            </a:r>
            <a:endParaRPr lang="en-US" sz="1400" dirty="0"/>
          </a:p>
        </p:txBody>
      </p:sp>
      <p:sp>
        <p:nvSpPr>
          <p:cNvPr id="48" name="Shape 39"/>
          <p:cNvSpPr/>
          <p:nvPr/>
        </p:nvSpPr>
        <p:spPr>
          <a:xfrm>
            <a:off x="548640" y="3127248"/>
            <a:ext cx="2487168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9" name="Text 40"/>
          <p:cNvSpPr/>
          <p:nvPr/>
        </p:nvSpPr>
        <p:spPr>
          <a:xfrm>
            <a:off x="731520" y="32004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</a:t>
            </a:r>
            <a:endParaRPr lang="en-US" sz="2600" dirty="0"/>
          </a:p>
        </p:txBody>
      </p:sp>
      <p:sp>
        <p:nvSpPr>
          <p:cNvPr id="50" name="Text 41"/>
          <p:cNvSpPr/>
          <p:nvPr/>
        </p:nvSpPr>
        <p:spPr>
          <a:xfrm>
            <a:off x="731520" y="36758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200" dirty="0"/>
          </a:p>
        </p:txBody>
      </p:sp>
      <p:sp>
        <p:nvSpPr>
          <p:cNvPr id="51" name="Shape 42"/>
          <p:cNvSpPr/>
          <p:nvPr/>
        </p:nvSpPr>
        <p:spPr>
          <a:xfrm>
            <a:off x="3328416" y="3127248"/>
            <a:ext cx="2487168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2" name="Text 43"/>
          <p:cNvSpPr/>
          <p:nvPr/>
        </p:nvSpPr>
        <p:spPr>
          <a:xfrm>
            <a:off x="3511296" y="32004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TB</a:t>
            </a:r>
            <a:endParaRPr lang="en-US" sz="2600" dirty="0"/>
          </a:p>
        </p:txBody>
      </p:sp>
      <p:sp>
        <p:nvSpPr>
          <p:cNvPr id="53" name="Text 44"/>
          <p:cNvSpPr/>
          <p:nvPr/>
        </p:nvSpPr>
        <p:spPr>
          <a:xfrm>
            <a:off x="3511296" y="36758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measurements</a:t>
            </a:r>
            <a:endParaRPr lang="en-US" sz="1200" dirty="0"/>
          </a:p>
        </p:txBody>
      </p:sp>
      <p:sp>
        <p:nvSpPr>
          <p:cNvPr id="54" name="Shape 45"/>
          <p:cNvSpPr/>
          <p:nvPr/>
        </p:nvSpPr>
        <p:spPr>
          <a:xfrm>
            <a:off x="6108192" y="3127248"/>
            <a:ext cx="2487168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5" name="Text 46"/>
          <p:cNvSpPr/>
          <p:nvPr/>
        </p:nvSpPr>
        <p:spPr>
          <a:xfrm>
            <a:off x="6291072" y="320040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Millions</a:t>
            </a:r>
            <a:endParaRPr lang="en-US" sz="2600" dirty="0"/>
          </a:p>
        </p:txBody>
      </p:sp>
      <p:sp>
        <p:nvSpPr>
          <p:cNvPr id="56" name="Text 47"/>
          <p:cNvSpPr/>
          <p:nvPr/>
        </p:nvSpPr>
        <p:spPr>
          <a:xfrm>
            <a:off x="6291072" y="36758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signals</a:t>
            </a:r>
            <a:endParaRPr lang="en-US" sz="1200" dirty="0"/>
          </a:p>
        </p:txBody>
      </p:sp>
      <p:sp>
        <p:nvSpPr>
          <p:cNvPr id="57" name="Shape 48"/>
          <p:cNvSpPr/>
          <p:nvPr/>
        </p:nvSpPr>
        <p:spPr>
          <a:xfrm>
            <a:off x="548640" y="4110000"/>
            <a:ext cx="8046720" cy="626592"/>
          </a:xfrm>
          <a:prstGeom prst="roundRect">
            <a:avLst>
              <a:gd name="adj" fmla="val 13333"/>
            </a:avLst>
          </a:prstGeom>
          <a:solidFill>
            <a:srgbClr val="0E2038"/>
          </a:solidFill>
          <a:ln w="15875">
            <a:solidFill>
              <a:srgbClr val="FBBF24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>
              <a:solidFill>
                <a:srgbClr val="FF0000"/>
              </a:solidFill>
            </a:endParaRPr>
          </a:p>
        </p:txBody>
      </p:sp>
      <p:sp>
        <p:nvSpPr>
          <p:cNvPr id="58" name="Text 49"/>
          <p:cNvSpPr/>
          <p:nvPr/>
        </p:nvSpPr>
        <p:spPr>
          <a:xfrm>
            <a:off x="804672" y="4150000"/>
            <a:ext cx="7534656" cy="54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becomes impossible.</a:t>
            </a:r>
          </a:p>
          <a:p>
            <a:pPr marL="0" indent="0" algn="ctr">
              <a:buNone/>
            </a:pPr>
            <a:r>
              <a:rPr lang="en-US" sz="11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helps engineers work faster — it doesn't replace them.</a:t>
            </a:r>
            <a:endParaRPr lang="en-US" sz="115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71" name="Signal underline"/>
          <p:cNvSpPr/>
          <p:nvPr/>
        </p:nvSpPr>
        <p:spPr>
          <a:xfrm>
            <a:off x="548640" y="965000"/>
            <a:ext cx="3302290" cy="155140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Arrow: Curved Right 1046">
            <a:extLst>
              <a:ext uri="{FF2B5EF4-FFF2-40B4-BE49-F238E27FC236}">
                <a16:creationId xmlns:a16="http://schemas.microsoft.com/office/drawing/2014/main" id="{0C488B83-9D2E-4D5C-9D70-C61A57D3A9DA}"/>
              </a:ext>
            </a:extLst>
          </p:cNvPr>
          <p:cNvSpPr/>
          <p:nvPr/>
        </p:nvSpPr>
        <p:spPr>
          <a:xfrm rot="4902508">
            <a:off x="4911155" y="2527083"/>
            <a:ext cx="329206" cy="953747"/>
          </a:xfrm>
          <a:prstGeom prst="curved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1046" name="Rectangle: Rounded Corners 1045">
            <a:extLst>
              <a:ext uri="{FF2B5EF4-FFF2-40B4-BE49-F238E27FC236}">
                <a16:creationId xmlns:a16="http://schemas.microsoft.com/office/drawing/2014/main" id="{4355317A-8423-0C2C-B4B3-F5F9845AF84C}"/>
              </a:ext>
            </a:extLst>
          </p:cNvPr>
          <p:cNvSpPr/>
          <p:nvPr/>
        </p:nvSpPr>
        <p:spPr>
          <a:xfrm>
            <a:off x="434894" y="2246865"/>
            <a:ext cx="3638535" cy="849112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Machine Learning?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9981" y="1302923"/>
            <a:ext cx="4170150" cy="804672"/>
          </a:xfrm>
          <a:prstGeom prst="roundRect">
            <a:avLst>
              <a:gd name="adj" fmla="val 9091"/>
            </a:avLst>
          </a:prstGeom>
          <a:solidFill>
            <a:srgbClr val="173A63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627986" y="1393655"/>
            <a:ext cx="378746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that learn patterns from historical data </a:t>
            </a: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predictions or decisions — 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being explicitly programmed.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71524" y="2708884"/>
            <a:ext cx="1280160" cy="19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Historical 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Data/Signals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322771" y="2416325"/>
            <a:ext cx="292608" cy="247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822497" y="231436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058" y="2410921"/>
            <a:ext cx="209215" cy="20921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55472" y="2690687"/>
            <a:ext cx="1280160" cy="26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408217" y="2356337"/>
            <a:ext cx="292608" cy="34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2827185" y="2297603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3746" y="2394164"/>
            <a:ext cx="209215" cy="20921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667598" y="2758893"/>
            <a:ext cx="1280160" cy="2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05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grpSp>
        <p:nvGrpSpPr>
          <p:cNvPr id="1016" name="Lifecycle diagram">
            <a:extLst>
              <a:ext uri="{FF2B5EF4-FFF2-40B4-BE49-F238E27FC236}">
                <a16:creationId xmlns:a16="http://schemas.microsoft.com/office/drawing/2014/main" id="{9A99BF74-F8A9-EFB8-6BDB-B575D95BE5CE}"/>
              </a:ext>
            </a:extLst>
          </p:cNvPr>
          <p:cNvGrpSpPr/>
          <p:nvPr/>
        </p:nvGrpSpPr>
        <p:grpSpPr>
          <a:xfrm>
            <a:off x="1762968" y="2628701"/>
            <a:ext cx="4249271" cy="1974887"/>
            <a:chOff x="380000" y="745318"/>
            <a:chExt cx="8400000" cy="4004682"/>
          </a:xfrm>
        </p:grpSpPr>
        <p:sp>
          <p:nvSpPr>
            <p:cNvPr id="1018" name="Feedback label">
              <a:extLst>
                <a:ext uri="{FF2B5EF4-FFF2-40B4-BE49-F238E27FC236}">
                  <a16:creationId xmlns:a16="http://schemas.microsoft.com/office/drawing/2014/main" id="{F7CA1D0E-A110-0423-EF3F-F8DB7608AB8B}"/>
                </a:ext>
              </a:extLst>
            </p:cNvPr>
            <p:cNvSpPr/>
            <p:nvPr/>
          </p:nvSpPr>
          <p:spPr>
            <a:xfrm>
              <a:off x="6280000" y="745318"/>
              <a:ext cx="2358142" cy="291199"/>
            </a:xfrm>
            <a:prstGeom prst="rect">
              <a:avLst/>
            </a:prstGeom>
            <a:solidFill>
              <a:srgbClr val="0A1A2F"/>
            </a:solidFill>
            <a:ln/>
          </p:spPr>
          <p:txBody>
            <a:bodyPr wrap="square" lIns="36000" tIns="0" rIns="36000" bIns="0" rtlCol="0" anchor="ctr"/>
            <a:lstStyle/>
            <a:p>
              <a:pPr marL="0" indent="0" algn="ctr">
                <a:buNone/>
              </a:pPr>
              <a:r>
                <a:rPr lang="en-US" sz="1000" b="1" i="1" dirty="0">
                  <a:solidFill>
                    <a:srgbClr val="FBBF24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the model keeps learning</a:t>
              </a:r>
              <a:endParaRPr lang="en-US" sz="1000" dirty="0"/>
            </a:p>
          </p:txBody>
        </p:sp>
        <p:cxnSp>
          <p:nvCxnSpPr>
            <p:cNvPr id="1019" name="Arrow 1">
              <a:extLst>
                <a:ext uri="{FF2B5EF4-FFF2-40B4-BE49-F238E27FC236}">
                  <a16:creationId xmlns:a16="http://schemas.microsoft.com/office/drawing/2014/main" id="{7064B4C9-F592-705F-E1A8-7C86EF17F3C2}"/>
                </a:ext>
              </a:extLst>
            </p:cNvPr>
            <p:cNvCxnSpPr/>
            <p:nvPr/>
          </p:nvCxnSpPr>
          <p:spPr>
            <a:xfrm flipV="1">
              <a:off x="1535000" y="3354400"/>
              <a:ext cx="990000" cy="291200"/>
            </a:xfrm>
            <a:prstGeom prst="straightConnector1">
              <a:avLst/>
            </a:prstGeom>
            <a:noFill/>
            <a:ln w="28575" cap="rnd">
              <a:solidFill>
                <a:srgbClr val="22D3EE"/>
              </a:solidFill>
              <a:prstDash val="solid"/>
              <a:tailEnd type="triangle" w="med" len="med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cxnSp>
        <p:cxnSp>
          <p:nvCxnSpPr>
            <p:cNvPr id="1020" name="Arrow 2">
              <a:extLst>
                <a:ext uri="{FF2B5EF4-FFF2-40B4-BE49-F238E27FC236}">
                  <a16:creationId xmlns:a16="http://schemas.microsoft.com/office/drawing/2014/main" id="{8271D838-3EAE-588C-6DB1-B00E0E1E2BED}"/>
                </a:ext>
              </a:extLst>
            </p:cNvPr>
            <p:cNvCxnSpPr/>
            <p:nvPr/>
          </p:nvCxnSpPr>
          <p:spPr>
            <a:xfrm flipV="1">
              <a:off x="3235000" y="2854400"/>
              <a:ext cx="990000" cy="291200"/>
            </a:xfrm>
            <a:prstGeom prst="straightConnector1">
              <a:avLst/>
            </a:prstGeom>
            <a:noFill/>
            <a:ln w="28575" cap="rnd">
              <a:solidFill>
                <a:srgbClr val="38BDF8"/>
              </a:solidFill>
              <a:prstDash val="solid"/>
              <a:tailEnd type="triangle" w="med" len="med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cxnSp>
        <p:cxnSp>
          <p:nvCxnSpPr>
            <p:cNvPr id="1021" name="Arrow 3">
              <a:extLst>
                <a:ext uri="{FF2B5EF4-FFF2-40B4-BE49-F238E27FC236}">
                  <a16:creationId xmlns:a16="http://schemas.microsoft.com/office/drawing/2014/main" id="{BAE2FC91-9E43-51D2-6ECF-C1CC590EFD14}"/>
                </a:ext>
              </a:extLst>
            </p:cNvPr>
            <p:cNvCxnSpPr/>
            <p:nvPr/>
          </p:nvCxnSpPr>
          <p:spPr>
            <a:xfrm flipV="1">
              <a:off x="4935000" y="2354400"/>
              <a:ext cx="990000" cy="291200"/>
            </a:xfrm>
            <a:prstGeom prst="straightConnector1">
              <a:avLst/>
            </a:prstGeom>
            <a:noFill/>
            <a:ln w="28575" cap="rnd">
              <a:solidFill>
                <a:srgbClr val="2DD4BF"/>
              </a:solidFill>
              <a:prstDash val="solid"/>
              <a:tailEnd type="triangle" w="med" len="med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cxnSp>
        <p:cxnSp>
          <p:nvCxnSpPr>
            <p:cNvPr id="1022" name="Arrow 4">
              <a:extLst>
                <a:ext uri="{FF2B5EF4-FFF2-40B4-BE49-F238E27FC236}">
                  <a16:creationId xmlns:a16="http://schemas.microsoft.com/office/drawing/2014/main" id="{9E3BB77C-1922-9F9A-531B-C7222B02831F}"/>
                </a:ext>
              </a:extLst>
            </p:cNvPr>
            <p:cNvCxnSpPr/>
            <p:nvPr/>
          </p:nvCxnSpPr>
          <p:spPr>
            <a:xfrm flipV="1">
              <a:off x="6635000" y="1854400"/>
              <a:ext cx="990000" cy="291200"/>
            </a:xfrm>
            <a:prstGeom prst="straightConnector1">
              <a:avLst/>
            </a:prstGeom>
            <a:noFill/>
            <a:ln w="28575" cap="rnd">
              <a:solidFill>
                <a:srgbClr val="FBBF24"/>
              </a:solidFill>
              <a:prstDash val="solid"/>
              <a:tailEnd type="triangle" w="med" len="med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cxnSp>
        <p:sp>
          <p:nvSpPr>
            <p:cNvPr id="1023" name="Node 1">
              <a:extLst>
                <a:ext uri="{FF2B5EF4-FFF2-40B4-BE49-F238E27FC236}">
                  <a16:creationId xmlns:a16="http://schemas.microsoft.com/office/drawing/2014/main" id="{245EED01-FF71-456C-9698-C581ABD1DF40}"/>
                </a:ext>
              </a:extLst>
            </p:cNvPr>
            <p:cNvSpPr/>
            <p:nvPr/>
          </p:nvSpPr>
          <p:spPr>
            <a:xfrm>
              <a:off x="925000" y="3380000"/>
              <a:ext cx="625000" cy="597000"/>
            </a:xfrm>
            <a:prstGeom prst="ellipse">
              <a:avLst/>
            </a:prstGeom>
            <a:solidFill>
              <a:srgbClr val="22D3EE"/>
            </a:solidFill>
            <a:ln w="12700">
              <a:solidFill>
                <a:srgbClr val="0A1A2F"/>
              </a:solidFill>
            </a:ln>
            <a:effectLst>
              <a:outerShdw blurRad="114300" dist="381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" name="Glyph 1">
              <a:extLst>
                <a:ext uri="{FF2B5EF4-FFF2-40B4-BE49-F238E27FC236}">
                  <a16:creationId xmlns:a16="http://schemas.microsoft.com/office/drawing/2014/main" id="{E3BE559F-CBBB-435B-9994-8FDDEC86D32C}"/>
                </a:ext>
              </a:extLst>
            </p:cNvPr>
            <p:cNvSpPr/>
            <p:nvPr/>
          </p:nvSpPr>
          <p:spPr>
            <a:xfrm>
              <a:off x="1120000" y="3560000"/>
              <a:ext cx="210000" cy="190000"/>
            </a:xfrm>
            <a:prstGeom prst="can">
              <a:avLst/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25" name="Label 1">
              <a:extLst>
                <a:ext uri="{FF2B5EF4-FFF2-40B4-BE49-F238E27FC236}">
                  <a16:creationId xmlns:a16="http://schemas.microsoft.com/office/drawing/2014/main" id="{8F1C5E6F-98A0-89F8-1665-8C158125C41D}"/>
                </a:ext>
              </a:extLst>
            </p:cNvPr>
            <p:cNvSpPr/>
            <p:nvPr/>
          </p:nvSpPr>
          <p:spPr>
            <a:xfrm>
              <a:off x="380000" y="4150000"/>
              <a:ext cx="1600000" cy="6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Input Data</a:t>
              </a: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BCCF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Historical / old data</a:t>
              </a:r>
              <a:endParaRPr lang="en-US" sz="800" dirty="0"/>
            </a:p>
          </p:txBody>
        </p:sp>
        <p:sp>
          <p:nvSpPr>
            <p:cNvPr id="1026" name="Node 2">
              <a:extLst>
                <a:ext uri="{FF2B5EF4-FFF2-40B4-BE49-F238E27FC236}">
                  <a16:creationId xmlns:a16="http://schemas.microsoft.com/office/drawing/2014/main" id="{1297EA79-36F1-21DE-5B4C-B4911E23A545}"/>
                </a:ext>
              </a:extLst>
            </p:cNvPr>
            <p:cNvSpPr/>
            <p:nvPr/>
          </p:nvSpPr>
          <p:spPr>
            <a:xfrm>
              <a:off x="2510000" y="2880001"/>
              <a:ext cx="740000" cy="740001"/>
            </a:xfrm>
            <a:prstGeom prst="ellipse">
              <a:avLst/>
            </a:prstGeom>
            <a:solidFill>
              <a:srgbClr val="38BDF8"/>
            </a:solidFill>
            <a:ln w="12700">
              <a:solidFill>
                <a:srgbClr val="0A1A2F"/>
              </a:solidFill>
            </a:ln>
            <a:effectLst>
              <a:outerShdw blurRad="114300" dist="381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" name="Glyph 2 lens">
              <a:extLst>
                <a:ext uri="{FF2B5EF4-FFF2-40B4-BE49-F238E27FC236}">
                  <a16:creationId xmlns:a16="http://schemas.microsoft.com/office/drawing/2014/main" id="{C48E1BC7-91D4-6E7F-2037-A4AA69289B35}"/>
                </a:ext>
              </a:extLst>
            </p:cNvPr>
            <p:cNvSpPr/>
            <p:nvPr/>
          </p:nvSpPr>
          <p:spPr>
            <a:xfrm>
              <a:off x="2690000" y="3040000"/>
              <a:ext cx="320000" cy="320000"/>
            </a:xfrm>
            <a:prstGeom prst="donut">
              <a:avLst>
                <a:gd name="adj" fmla="val 20000"/>
              </a:avLst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28" name="Glyph 2 handle">
              <a:extLst>
                <a:ext uri="{FF2B5EF4-FFF2-40B4-BE49-F238E27FC236}">
                  <a16:creationId xmlns:a16="http://schemas.microsoft.com/office/drawing/2014/main" id="{2657D9BE-9DB7-420D-668E-1F61A3E117DA}"/>
                </a:ext>
              </a:extLst>
            </p:cNvPr>
            <p:cNvSpPr/>
            <p:nvPr/>
          </p:nvSpPr>
          <p:spPr>
            <a:xfrm rot="2700000">
              <a:off x="2980000" y="3300000"/>
              <a:ext cx="200000" cy="90000"/>
            </a:xfrm>
            <a:prstGeom prst="roundRect">
              <a:avLst>
                <a:gd name="adj" fmla="val 50000"/>
              </a:avLst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29" name="Label 2">
              <a:extLst>
                <a:ext uri="{FF2B5EF4-FFF2-40B4-BE49-F238E27FC236}">
                  <a16:creationId xmlns:a16="http://schemas.microsoft.com/office/drawing/2014/main" id="{AF6769BA-3D54-5099-8BA5-72470A0A5471}"/>
                </a:ext>
              </a:extLst>
            </p:cNvPr>
            <p:cNvSpPr/>
            <p:nvPr/>
          </p:nvSpPr>
          <p:spPr>
            <a:xfrm>
              <a:off x="2080000" y="3650000"/>
              <a:ext cx="1600000" cy="6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Analyze Data</a:t>
              </a: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BCCF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Clean &amp; explore</a:t>
              </a:r>
              <a:endParaRPr lang="en-US" sz="800" dirty="0"/>
            </a:p>
          </p:txBody>
        </p:sp>
        <p:sp>
          <p:nvSpPr>
            <p:cNvPr id="1030" name="Node 3">
              <a:extLst>
                <a:ext uri="{FF2B5EF4-FFF2-40B4-BE49-F238E27FC236}">
                  <a16:creationId xmlns:a16="http://schemas.microsoft.com/office/drawing/2014/main" id="{EAFF7E53-F051-1BE1-8AB7-85452CF6A748}"/>
                </a:ext>
              </a:extLst>
            </p:cNvPr>
            <p:cNvSpPr/>
            <p:nvPr/>
          </p:nvSpPr>
          <p:spPr>
            <a:xfrm>
              <a:off x="4210000" y="2380000"/>
              <a:ext cx="740000" cy="740000"/>
            </a:xfrm>
            <a:prstGeom prst="ellipse">
              <a:avLst/>
            </a:prstGeom>
            <a:solidFill>
              <a:srgbClr val="2DD4BF"/>
            </a:solidFill>
            <a:ln w="12700">
              <a:solidFill>
                <a:srgbClr val="0A1A2F"/>
              </a:solidFill>
            </a:ln>
            <a:effectLst>
              <a:outerShdw blurRad="114300" dist="381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" name="Dot 1">
              <a:extLst>
                <a:ext uri="{FF2B5EF4-FFF2-40B4-BE49-F238E27FC236}">
                  <a16:creationId xmlns:a16="http://schemas.microsoft.com/office/drawing/2014/main" id="{3527DEF0-5998-7762-51D9-FE439341157C}"/>
                </a:ext>
              </a:extLst>
            </p:cNvPr>
            <p:cNvSpPr/>
            <p:nvPr/>
          </p:nvSpPr>
          <p:spPr>
            <a:xfrm>
              <a:off x="4380000" y="2550000"/>
              <a:ext cx="150000" cy="150000"/>
            </a:xfrm>
            <a:prstGeom prst="ellipse">
              <a:avLst/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32" name="Dot 2">
              <a:extLst>
                <a:ext uri="{FF2B5EF4-FFF2-40B4-BE49-F238E27FC236}">
                  <a16:creationId xmlns:a16="http://schemas.microsoft.com/office/drawing/2014/main" id="{096CACBD-33EB-8640-50DF-9AD8409E684C}"/>
                </a:ext>
              </a:extLst>
            </p:cNvPr>
            <p:cNvSpPr/>
            <p:nvPr/>
          </p:nvSpPr>
          <p:spPr>
            <a:xfrm>
              <a:off x="4630000" y="2550000"/>
              <a:ext cx="150000" cy="150000"/>
            </a:xfrm>
            <a:prstGeom prst="ellipse">
              <a:avLst/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33" name="Dot 3">
              <a:extLst>
                <a:ext uri="{FF2B5EF4-FFF2-40B4-BE49-F238E27FC236}">
                  <a16:creationId xmlns:a16="http://schemas.microsoft.com/office/drawing/2014/main" id="{B33D35B0-F296-3AA6-474D-7F0B17E42213}"/>
                </a:ext>
              </a:extLst>
            </p:cNvPr>
            <p:cNvSpPr/>
            <p:nvPr/>
          </p:nvSpPr>
          <p:spPr>
            <a:xfrm>
              <a:off x="4380000" y="2800000"/>
              <a:ext cx="150000" cy="150000"/>
            </a:xfrm>
            <a:prstGeom prst="ellipse">
              <a:avLst/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34" name="Dot 4">
              <a:extLst>
                <a:ext uri="{FF2B5EF4-FFF2-40B4-BE49-F238E27FC236}">
                  <a16:creationId xmlns:a16="http://schemas.microsoft.com/office/drawing/2014/main" id="{8EA48BA7-3D44-3A8F-56C5-BED594A21801}"/>
                </a:ext>
              </a:extLst>
            </p:cNvPr>
            <p:cNvSpPr/>
            <p:nvPr/>
          </p:nvSpPr>
          <p:spPr>
            <a:xfrm>
              <a:off x="4630000" y="2800000"/>
              <a:ext cx="150000" cy="150000"/>
            </a:xfrm>
            <a:prstGeom prst="ellipse">
              <a:avLst/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Label 3">
              <a:extLst>
                <a:ext uri="{FF2B5EF4-FFF2-40B4-BE49-F238E27FC236}">
                  <a16:creationId xmlns:a16="http://schemas.microsoft.com/office/drawing/2014/main" id="{1FCD91D2-9379-7556-1FA8-950EA3DA3163}"/>
                </a:ext>
              </a:extLst>
            </p:cNvPr>
            <p:cNvSpPr/>
            <p:nvPr/>
          </p:nvSpPr>
          <p:spPr>
            <a:xfrm>
              <a:off x="3780000" y="3150000"/>
              <a:ext cx="1600000" cy="6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Find Patterns</a:t>
              </a: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BCCF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 the model</a:t>
              </a:r>
              <a:endParaRPr lang="en-US" sz="800" dirty="0"/>
            </a:p>
          </p:txBody>
        </p:sp>
        <p:sp>
          <p:nvSpPr>
            <p:cNvPr id="1036" name="Node 4">
              <a:extLst>
                <a:ext uri="{FF2B5EF4-FFF2-40B4-BE49-F238E27FC236}">
                  <a16:creationId xmlns:a16="http://schemas.microsoft.com/office/drawing/2014/main" id="{B8B26DE4-F1DD-DE77-4AFE-E2FDF1C0AB0F}"/>
                </a:ext>
              </a:extLst>
            </p:cNvPr>
            <p:cNvSpPr/>
            <p:nvPr/>
          </p:nvSpPr>
          <p:spPr>
            <a:xfrm>
              <a:off x="5910000" y="1880000"/>
              <a:ext cx="740000" cy="740000"/>
            </a:xfrm>
            <a:prstGeom prst="ellipse">
              <a:avLst/>
            </a:prstGeom>
            <a:solidFill>
              <a:srgbClr val="FBBF24"/>
            </a:solidFill>
            <a:ln w="12700">
              <a:solidFill>
                <a:srgbClr val="0A1A2F"/>
              </a:solidFill>
            </a:ln>
            <a:effectLst>
              <a:outerShdw blurRad="114300" dist="381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Glyph 4">
              <a:extLst>
                <a:ext uri="{FF2B5EF4-FFF2-40B4-BE49-F238E27FC236}">
                  <a16:creationId xmlns:a16="http://schemas.microsoft.com/office/drawing/2014/main" id="{C4201F18-E5E8-185F-AECE-9FF5317506C0}"/>
                </a:ext>
              </a:extLst>
            </p:cNvPr>
            <p:cNvSpPr/>
            <p:nvPr/>
          </p:nvSpPr>
          <p:spPr>
            <a:xfrm>
              <a:off x="6100000" y="2050000"/>
              <a:ext cx="360000" cy="400000"/>
            </a:xfrm>
            <a:prstGeom prst="flowChartDecision">
              <a:avLst/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Label 4">
              <a:extLst>
                <a:ext uri="{FF2B5EF4-FFF2-40B4-BE49-F238E27FC236}">
                  <a16:creationId xmlns:a16="http://schemas.microsoft.com/office/drawing/2014/main" id="{859D876D-6C21-8077-329A-1542F148EFAA}"/>
                </a:ext>
              </a:extLst>
            </p:cNvPr>
            <p:cNvSpPr/>
            <p:nvPr/>
          </p:nvSpPr>
          <p:spPr>
            <a:xfrm>
              <a:off x="5480000" y="2650000"/>
              <a:ext cx="1600000" cy="6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Prediction</a:t>
              </a:r>
            </a:p>
            <a:p>
              <a:pPr marL="0" indent="0" algn="ctr">
                <a:buNone/>
              </a:pPr>
              <a:r>
                <a:rPr lang="en-US" sz="800">
                  <a:solidFill>
                    <a:srgbClr val="BCCF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Decision or action</a:t>
              </a:r>
              <a:endParaRPr lang="en-US" sz="800"/>
            </a:p>
          </p:txBody>
        </p:sp>
        <p:sp>
          <p:nvSpPr>
            <p:cNvPr id="1039" name="Node 5">
              <a:extLst>
                <a:ext uri="{FF2B5EF4-FFF2-40B4-BE49-F238E27FC236}">
                  <a16:creationId xmlns:a16="http://schemas.microsoft.com/office/drawing/2014/main" id="{F2DA36DC-7F2D-DC14-BBA4-366BEF3D1220}"/>
                </a:ext>
              </a:extLst>
            </p:cNvPr>
            <p:cNvSpPr/>
            <p:nvPr/>
          </p:nvSpPr>
          <p:spPr>
            <a:xfrm>
              <a:off x="7610000" y="1380000"/>
              <a:ext cx="740000" cy="740000"/>
            </a:xfrm>
            <a:prstGeom prst="ellipse">
              <a:avLst/>
            </a:prstGeom>
            <a:solidFill>
              <a:srgbClr val="22D3EE"/>
            </a:solidFill>
            <a:ln w="12700">
              <a:solidFill>
                <a:srgbClr val="0A1A2F"/>
              </a:solidFill>
            </a:ln>
            <a:effectLst>
              <a:outerShdw blurRad="114300" dist="3810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Glyph 5">
              <a:extLst>
                <a:ext uri="{FF2B5EF4-FFF2-40B4-BE49-F238E27FC236}">
                  <a16:creationId xmlns:a16="http://schemas.microsoft.com/office/drawing/2014/main" id="{3F380B82-FF85-19CE-5C87-DDD1BED4D832}"/>
                </a:ext>
              </a:extLst>
            </p:cNvPr>
            <p:cNvSpPr/>
            <p:nvPr/>
          </p:nvSpPr>
          <p:spPr>
            <a:xfrm>
              <a:off x="7790000" y="1560000"/>
              <a:ext cx="380000" cy="380000"/>
            </a:xfrm>
            <a:prstGeom prst="circularArrow">
              <a:avLst/>
            </a:prstGeom>
            <a:solidFill>
              <a:srgbClr val="0A1A2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Label 5">
              <a:extLst>
                <a:ext uri="{FF2B5EF4-FFF2-40B4-BE49-F238E27FC236}">
                  <a16:creationId xmlns:a16="http://schemas.microsoft.com/office/drawing/2014/main" id="{2A6C3151-4601-98A5-34DA-8E7D59E8B2D7}"/>
                </a:ext>
              </a:extLst>
            </p:cNvPr>
            <p:cNvSpPr/>
            <p:nvPr/>
          </p:nvSpPr>
          <p:spPr>
            <a:xfrm>
              <a:off x="7180000" y="2150000"/>
              <a:ext cx="1600000" cy="6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Learns from Feedback</a:t>
              </a: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BCCF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Improves over time</a:t>
              </a:r>
              <a:endParaRPr lang="en-US" sz="800" dirty="0"/>
            </a:p>
          </p:txBody>
        </p:sp>
      </p:grpSp>
      <p:sp>
        <p:nvSpPr>
          <p:cNvPr id="1044" name="Shape 14">
            <a:extLst>
              <a:ext uri="{FF2B5EF4-FFF2-40B4-BE49-F238E27FC236}">
                <a16:creationId xmlns:a16="http://schemas.microsoft.com/office/drawing/2014/main" id="{4CAF54E9-0938-828C-FEFD-A994E565A018}"/>
              </a:ext>
            </a:extLst>
          </p:cNvPr>
          <p:cNvSpPr/>
          <p:nvPr/>
        </p:nvSpPr>
        <p:spPr>
          <a:xfrm>
            <a:off x="831682" y="2301717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045" name="Image 0" descr="preencoded.png">
            <a:extLst>
              <a:ext uri="{FF2B5EF4-FFF2-40B4-BE49-F238E27FC236}">
                <a16:creationId xmlns:a16="http://schemas.microsoft.com/office/drawing/2014/main" id="{3EACD511-DA32-C364-CDFD-98C2EC64D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243" y="2398278"/>
            <a:ext cx="209215" cy="209215"/>
          </a:xfrm>
          <a:prstGeom prst="rect">
            <a:avLst/>
          </a:prstGeom>
        </p:spPr>
      </p:pic>
      <p:pic>
        <p:nvPicPr>
          <p:cNvPr id="1048" name="Picture 2" descr="neural networks explained">
            <a:extLst>
              <a:ext uri="{FF2B5EF4-FFF2-40B4-BE49-F238E27FC236}">
                <a16:creationId xmlns:a16="http://schemas.microsoft.com/office/drawing/2014/main" id="{C31B67D8-E71F-4E42-0B68-643026EFD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1432" y="238082"/>
            <a:ext cx="2833768" cy="250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2" name="Signal underline"/>
          <p:cNvSpPr/>
          <p:nvPr/>
        </p:nvSpPr>
        <p:spPr>
          <a:xfrm>
            <a:off x="548639" y="965000"/>
            <a:ext cx="3875079" cy="110152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7" grpId="0" animBg="1"/>
      <p:bldP spid="104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6" grpId="0" animBg="1"/>
      <p:bldP spid="28" grpId="0" animBg="1"/>
      <p:bldP spid="10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FAMILIES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Machine Learning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3896" y="105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CCF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016" y="1050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CCF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736" y="1416288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6" name="Shape 14"/>
          <p:cNvSpPr/>
          <p:nvPr/>
        </p:nvSpPr>
        <p:spPr>
          <a:xfrm>
            <a:off x="566736" y="1416288"/>
            <a:ext cx="73152" cy="74980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Shape 15"/>
          <p:cNvSpPr/>
          <p:nvPr/>
        </p:nvSpPr>
        <p:spPr>
          <a:xfrm>
            <a:off x="767904" y="159002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65" y="1686585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43976" y="1416288"/>
            <a:ext cx="1690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236016" y="141628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overtorque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66736" y="2275824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Shape 19"/>
          <p:cNvSpPr/>
          <p:nvPr/>
        </p:nvSpPr>
        <p:spPr>
          <a:xfrm>
            <a:off x="566736" y="2275824"/>
            <a:ext cx="73152" cy="74980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Shape 20"/>
          <p:cNvSpPr/>
          <p:nvPr/>
        </p:nvSpPr>
        <p:spPr>
          <a:xfrm>
            <a:off x="767904" y="2449560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65" y="2546121"/>
            <a:ext cx="209215" cy="20921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43976" y="2275824"/>
            <a:ext cx="1690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236016" y="227582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unusual driving</a:t>
            </a:r>
            <a:endParaRPr lang="en-US" sz="1450" dirty="0"/>
          </a:p>
        </p:txBody>
      </p:sp>
      <p:sp>
        <p:nvSpPr>
          <p:cNvPr id="27" name="Shape 23"/>
          <p:cNvSpPr/>
          <p:nvPr/>
        </p:nvSpPr>
        <p:spPr>
          <a:xfrm>
            <a:off x="566736" y="31353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8" name="Shape 24"/>
          <p:cNvSpPr/>
          <p:nvPr/>
        </p:nvSpPr>
        <p:spPr>
          <a:xfrm>
            <a:off x="566736" y="3135360"/>
            <a:ext cx="73152" cy="749808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Shape 25"/>
          <p:cNvSpPr/>
          <p:nvPr/>
        </p:nvSpPr>
        <p:spPr>
          <a:xfrm>
            <a:off x="767904" y="3309096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65" y="3405657"/>
            <a:ext cx="209215" cy="20921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43976" y="3135360"/>
            <a:ext cx="1690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6236016" y="31353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450" dirty="0"/>
          </a:p>
        </p:txBody>
      </p:sp>
      <p:sp>
        <p:nvSpPr>
          <p:cNvPr id="33" name="Shape 28"/>
          <p:cNvSpPr/>
          <p:nvPr/>
        </p:nvSpPr>
        <p:spPr>
          <a:xfrm>
            <a:off x="636161" y="4059856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0E2038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Text 29"/>
          <p:cNvSpPr/>
          <p:nvPr/>
        </p:nvSpPr>
        <p:spPr>
          <a:xfrm>
            <a:off x="758952" y="4122975"/>
            <a:ext cx="7534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</a:t>
            </a:r>
          </a:p>
          <a:p>
            <a:pPr marL="0" indent="0" algn="l">
              <a:buNone/>
            </a:pPr>
            <a:r>
              <a:rPr lang="en-US" sz="14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common approach in vehicle analytics.</a:t>
            </a:r>
            <a:endParaRPr lang="en-US" sz="145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200" name="Text meaning header"/>
          <p:cNvSpPr/>
          <p:nvPr/>
        </p:nvSpPr>
        <p:spPr>
          <a:xfrm>
            <a:off x="3218496" y="1050528"/>
            <a:ext cx="289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CCF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MEANS</a:t>
            </a:r>
            <a:endParaRPr lang="en-US" sz="1200"/>
          </a:p>
        </p:txBody>
      </p:sp>
      <p:sp>
        <p:nvSpPr>
          <p:cNvPr id="201" name="Definition"/>
          <p:cNvSpPr/>
          <p:nvPr/>
        </p:nvSpPr>
        <p:spPr>
          <a:xfrm>
            <a:off x="3218496" y="1416288"/>
            <a:ext cx="289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labeled data where the correct answer is already known.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Labels</a:t>
            </a:r>
            <a:endParaRPr lang="en-US" sz="1100" dirty="0"/>
          </a:p>
        </p:txBody>
      </p:sp>
      <p:sp>
        <p:nvSpPr>
          <p:cNvPr id="202" name="Definition"/>
          <p:cNvSpPr/>
          <p:nvPr/>
        </p:nvSpPr>
        <p:spPr>
          <a:xfrm>
            <a:off x="3218496" y="2275824"/>
            <a:ext cx="289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and structure in data that has no labels.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</a:t>
            </a:r>
            <a:endParaRPr lang="en-US" sz="1100" dirty="0"/>
          </a:p>
        </p:txBody>
      </p:sp>
      <p:sp>
        <p:nvSpPr>
          <p:cNvPr id="203" name="Definition"/>
          <p:cNvSpPr/>
          <p:nvPr/>
        </p:nvSpPr>
        <p:spPr>
          <a:xfrm>
            <a:off x="3218496" y="3135360"/>
            <a:ext cx="289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 and error, guided by rewards and penalties.</a:t>
            </a:r>
            <a:endParaRPr lang="en-US" sz="1100" dirty="0"/>
          </a:p>
        </p:txBody>
      </p:sp>
      <p:sp>
        <p:nvSpPr>
          <p:cNvPr id="301" name="Sup Cat chip"/>
          <p:cNvSpPr/>
          <p:nvPr/>
        </p:nvSpPr>
        <p:spPr>
          <a:xfrm>
            <a:off x="1343976" y="1716288"/>
            <a:ext cx="430000" cy="340000"/>
          </a:xfrm>
          <a:prstGeom prst="roundRect">
            <a:avLst>
              <a:gd name="adj" fmla="val 20000"/>
            </a:avLst>
          </a:prstGeom>
          <a:solidFill>
            <a:srgbClr val="14304F"/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cs typeface="Calibri" pitchFamily="34" charset="-120"/>
              </a:rPr>
              <a:t>Cat</a:t>
            </a:r>
            <a:endParaRPr lang="en-US" sz="900" b="1"/>
          </a:p>
        </p:txBody>
      </p:sp>
      <p:sp>
        <p:nvSpPr>
          <p:cNvPr id="302" name="Sup Dog chip"/>
          <p:cNvSpPr/>
          <p:nvPr/>
        </p:nvSpPr>
        <p:spPr>
          <a:xfrm>
            <a:off x="1813976" y="1716288"/>
            <a:ext cx="430000" cy="340000"/>
          </a:xfrm>
          <a:prstGeom prst="roundRect">
            <a:avLst>
              <a:gd name="adj" fmla="val 20000"/>
            </a:avLst>
          </a:prstGeom>
          <a:solidFill>
            <a:srgbClr val="14304F"/>
          </a:solidFill>
          <a:ln w="1270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38BDF8"/>
                </a:solidFill>
                <a:latin typeface="Calibri" pitchFamily="34" charset="0"/>
                <a:cs typeface="Calibri" pitchFamily="34" charset="-120"/>
              </a:rPr>
              <a:t>Dog</a:t>
            </a:r>
            <a:endParaRPr lang="en-US" sz="900" b="1"/>
          </a:p>
        </p:txBody>
      </p:sp>
      <p:sp>
        <p:nvSpPr>
          <p:cNvPr id="310" name="Cluster A ring"/>
          <p:cNvSpPr/>
          <p:nvPr/>
        </p:nvSpPr>
        <p:spPr>
          <a:xfrm>
            <a:off x="1348096" y="2575824"/>
            <a:ext cx="250000" cy="300000"/>
          </a:xfrm>
          <a:prstGeom prst="ellipse">
            <a:avLst/>
          </a:prstGeom>
          <a:noFill/>
          <a:ln w="12700">
            <a:solidFill>
              <a:srgbClr val="38BDF8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311" name="Cluster B ring"/>
          <p:cNvSpPr/>
          <p:nvPr/>
        </p:nvSpPr>
        <p:spPr>
          <a:xfrm>
            <a:off x="1668096" y="2575824"/>
            <a:ext cx="250000" cy="300000"/>
          </a:xfrm>
          <a:prstGeom prst="ellipse">
            <a:avLst/>
          </a:prstGeom>
          <a:noFill/>
          <a:ln w="12700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312" name="dotA1"/>
          <p:cNvSpPr/>
          <p:nvPr/>
        </p:nvSpPr>
        <p:spPr>
          <a:xfrm>
            <a:off x="1398096" y="2618208"/>
            <a:ext cx="95000" cy="95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3" name="dotA2"/>
          <p:cNvSpPr/>
          <p:nvPr/>
        </p:nvSpPr>
        <p:spPr>
          <a:xfrm>
            <a:off x="1488096" y="2618208"/>
            <a:ext cx="95000" cy="95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4" name="dotA3"/>
          <p:cNvSpPr/>
          <p:nvPr/>
        </p:nvSpPr>
        <p:spPr>
          <a:xfrm>
            <a:off x="1443096" y="2713208"/>
            <a:ext cx="95000" cy="95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5" name="dotB1"/>
          <p:cNvSpPr/>
          <p:nvPr/>
        </p:nvSpPr>
        <p:spPr>
          <a:xfrm>
            <a:off x="1718096" y="2618208"/>
            <a:ext cx="95000" cy="950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6" name="dotB2"/>
          <p:cNvSpPr/>
          <p:nvPr/>
        </p:nvSpPr>
        <p:spPr>
          <a:xfrm>
            <a:off x="1808096" y="2618208"/>
            <a:ext cx="95000" cy="950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7" name="dotB3"/>
          <p:cNvSpPr/>
          <p:nvPr/>
        </p:nvSpPr>
        <p:spPr>
          <a:xfrm>
            <a:off x="1763096" y="2713208"/>
            <a:ext cx="95000" cy="950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0" name="RL target ring"/>
          <p:cNvSpPr/>
          <p:nvPr/>
        </p:nvSpPr>
        <p:spPr>
          <a:xfrm>
            <a:off x="1378096" y="3435360"/>
            <a:ext cx="300000" cy="300000"/>
          </a:xfrm>
          <a:prstGeom prst="ellipse">
            <a:avLst/>
          </a:prstGeom>
          <a:noFill/>
          <a:ln w="25400">
            <a:solidFill>
              <a:srgbClr val="2DD4BF"/>
            </a:solidFill>
          </a:ln>
        </p:spPr>
        <p:txBody>
          <a:bodyPr/>
          <a:lstStyle/>
          <a:p>
            <a:endParaRPr lang="en-SE"/>
          </a:p>
        </p:txBody>
      </p:sp>
      <p:sp>
        <p:nvSpPr>
          <p:cNvPr id="321" name="RL target dot"/>
          <p:cNvSpPr/>
          <p:nvPr/>
        </p:nvSpPr>
        <p:spPr>
          <a:xfrm>
            <a:off x="1463096" y="3520360"/>
            <a:ext cx="130000" cy="1300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89BBF1A8-6EA8-BDA5-BC31-ED3C961B6171}"/>
              </a:ext>
            </a:extLst>
          </p:cNvPr>
          <p:cNvCxnSpPr>
            <a:cxnSpLocks/>
          </p:cNvCxnSpPr>
          <p:nvPr/>
        </p:nvCxnSpPr>
        <p:spPr>
          <a:xfrm>
            <a:off x="1862616" y="3536162"/>
            <a:ext cx="794368" cy="199198"/>
          </a:xfrm>
          <a:prstGeom prst="curvedConnector3">
            <a:avLst>
              <a:gd name="adj1" fmla="val 51935"/>
            </a:avLst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TO 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Machine Learning Workflow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930075" cy="114300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2"/>
          <p:cNvSpPr/>
          <p:nvPr/>
        </p:nvSpPr>
        <p:spPr>
          <a:xfrm>
            <a:off x="812510" y="170078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70" y="1797345"/>
            <a:ext cx="209215" cy="20921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5216" y="2157984"/>
            <a:ext cx="85692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460427" y="155448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734747" y="1554480"/>
            <a:ext cx="930075" cy="114300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Shape 16"/>
          <p:cNvSpPr/>
          <p:nvPr/>
        </p:nvSpPr>
        <p:spPr>
          <a:xfrm>
            <a:off x="1998617" y="170078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178" y="1797345"/>
            <a:ext cx="209215" cy="20921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71323" y="2157984"/>
            <a:ext cx="85692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Collection/Measurement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646535" y="155448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2920855" y="1554480"/>
            <a:ext cx="930075" cy="1143000"/>
          </a:xfrm>
          <a:prstGeom prst="roundRect">
            <a:avLst>
              <a:gd name="adj" fmla="val 5899"/>
            </a:avLst>
          </a:prstGeom>
          <a:solidFill>
            <a:srgbClr val="173A63"/>
          </a:solidFill>
          <a:ln w="2222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Shape 20"/>
          <p:cNvSpPr/>
          <p:nvPr/>
        </p:nvSpPr>
        <p:spPr>
          <a:xfrm>
            <a:off x="3184725" y="170078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1285" y="1797345"/>
            <a:ext cx="209215" cy="20921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957431" y="2157984"/>
            <a:ext cx="85692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3832642" y="155448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4106962" y="1554480"/>
            <a:ext cx="930075" cy="114300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9050">
            <a:solidFill>
              <a:srgbClr val="00B0F0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 dirty="0"/>
          </a:p>
        </p:txBody>
      </p:sp>
      <p:sp>
        <p:nvSpPr>
          <p:cNvPr id="29" name="Shape 24"/>
          <p:cNvSpPr/>
          <p:nvPr/>
        </p:nvSpPr>
        <p:spPr>
          <a:xfrm>
            <a:off x="4370832" y="170078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7393" y="1797345"/>
            <a:ext cx="209215" cy="20921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143538" y="2157984"/>
            <a:ext cx="85692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018750" y="155448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5293070" y="1554480"/>
            <a:ext cx="930075" cy="114300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Shape 28"/>
          <p:cNvSpPr/>
          <p:nvPr/>
        </p:nvSpPr>
        <p:spPr>
          <a:xfrm>
            <a:off x="5556939" y="170078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500" y="1797345"/>
            <a:ext cx="209215" cy="20921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29646" y="2157984"/>
            <a:ext cx="85692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6204857" y="155448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38" name="Shape 31"/>
          <p:cNvSpPr/>
          <p:nvPr/>
        </p:nvSpPr>
        <p:spPr>
          <a:xfrm>
            <a:off x="6479177" y="1554480"/>
            <a:ext cx="930075" cy="114300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9" name="Shape 32"/>
          <p:cNvSpPr/>
          <p:nvPr/>
        </p:nvSpPr>
        <p:spPr>
          <a:xfrm>
            <a:off x="6743047" y="170078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607" y="1797345"/>
            <a:ext cx="209215" cy="209215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515753" y="2157984"/>
            <a:ext cx="85692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7390965" y="1554480"/>
            <a:ext cx="292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200" dirty="0"/>
          </a:p>
        </p:txBody>
      </p:sp>
      <p:sp>
        <p:nvSpPr>
          <p:cNvPr id="43" name="Shape 35"/>
          <p:cNvSpPr/>
          <p:nvPr/>
        </p:nvSpPr>
        <p:spPr>
          <a:xfrm>
            <a:off x="7665285" y="1554480"/>
            <a:ext cx="930075" cy="1143000"/>
          </a:xfrm>
          <a:prstGeom prst="roundRect">
            <a:avLst>
              <a:gd name="adj" fmla="val 589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4" name="Shape 36"/>
          <p:cNvSpPr/>
          <p:nvPr/>
        </p:nvSpPr>
        <p:spPr>
          <a:xfrm>
            <a:off x="7929154" y="170078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5715" y="1797345"/>
            <a:ext cx="209215" cy="209215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701861" y="2157984"/>
            <a:ext cx="856923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62" name="Desc 2"/>
          <p:cNvSpPr/>
          <p:nvPr/>
        </p:nvSpPr>
        <p:spPr>
          <a:xfrm>
            <a:off x="1734747" y="2740000"/>
            <a:ext cx="930075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signal data from the vehicle/Test System.</a:t>
            </a:r>
            <a:endParaRPr lang="en-US" sz="750" dirty="0"/>
          </a:p>
        </p:txBody>
      </p:sp>
      <p:sp>
        <p:nvSpPr>
          <p:cNvPr id="63" name="Desc 3"/>
          <p:cNvSpPr/>
          <p:nvPr/>
        </p:nvSpPr>
        <p:spPr>
          <a:xfrm>
            <a:off x="2920855" y="2740000"/>
            <a:ext cx="930075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noise, gaps, and outliers.</a:t>
            </a:r>
            <a:endParaRPr lang="en-US" sz="750" dirty="0"/>
          </a:p>
        </p:txBody>
      </p:sp>
      <p:sp>
        <p:nvSpPr>
          <p:cNvPr id="64" name="Desc 4"/>
          <p:cNvSpPr/>
          <p:nvPr/>
        </p:nvSpPr>
        <p:spPr>
          <a:xfrm>
            <a:off x="4106962" y="2740000"/>
            <a:ext cx="930075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to meaningful feature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variables that capture behavior.</a:t>
            </a:r>
            <a:endParaRPr lang="en-US" sz="750" dirty="0"/>
          </a:p>
        </p:txBody>
      </p:sp>
      <p:sp>
        <p:nvSpPr>
          <p:cNvPr id="65" name="Desc 5"/>
          <p:cNvSpPr/>
          <p:nvPr/>
        </p:nvSpPr>
        <p:spPr>
          <a:xfrm>
            <a:off x="5293070" y="2740000"/>
            <a:ext cx="930075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algorithms to learn the patterns.</a:t>
            </a:r>
            <a:endParaRPr lang="en-US" sz="750"/>
          </a:p>
        </p:txBody>
      </p:sp>
      <p:sp>
        <p:nvSpPr>
          <p:cNvPr id="66" name="Desc 6"/>
          <p:cNvSpPr/>
          <p:nvPr/>
        </p:nvSpPr>
        <p:spPr>
          <a:xfrm>
            <a:off x="6479177" y="2740000"/>
            <a:ext cx="930075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accuracy on held-out data.</a:t>
            </a:r>
            <a:endParaRPr lang="en-US" sz="750" dirty="0"/>
          </a:p>
        </p:txBody>
      </p:sp>
      <p:sp>
        <p:nvSpPr>
          <p:cNvPr id="67" name="Desc 7"/>
          <p:cNvSpPr/>
          <p:nvPr/>
        </p:nvSpPr>
        <p:spPr>
          <a:xfrm>
            <a:off x="7665285" y="2740000"/>
            <a:ext cx="930075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model for offline/Realtime predictions.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548640" y="324612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173A63"/>
          </a:solidFill>
          <a:ln w="15875">
            <a:solidFill>
              <a:srgbClr val="FBBF24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8" name="Text 39"/>
          <p:cNvSpPr/>
          <p:nvPr/>
        </p:nvSpPr>
        <p:spPr>
          <a:xfrm>
            <a:off x="804672" y="3337560"/>
            <a:ext cx="7534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projects fail because of poor data quality, not poor algorithms.
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feature engineering are where the real work happens.</a:t>
            </a:r>
            <a:endParaRPr lang="en-US" sz="160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74" name="Signal underline"/>
          <p:cNvSpPr/>
          <p:nvPr/>
        </p:nvSpPr>
        <p:spPr>
          <a:xfrm>
            <a:off x="548640" y="965000"/>
            <a:ext cx="4962474" cy="196288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HIDDEN REALITY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2761" y="1444753"/>
            <a:ext cx="928732" cy="513698"/>
          </a:xfrm>
          <a:prstGeom prst="roundRect">
            <a:avLst>
              <a:gd name="adj" fmla="val 7512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2"/>
          <p:cNvSpPr/>
          <p:nvPr/>
        </p:nvSpPr>
        <p:spPr>
          <a:xfrm>
            <a:off x="695078" y="1524931"/>
            <a:ext cx="379352" cy="41111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27" y="1628725"/>
            <a:ext cx="213779" cy="21377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22591" y="1997939"/>
            <a:ext cx="14203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793861" y="1444752"/>
            <a:ext cx="643458" cy="434315"/>
          </a:xfrm>
          <a:prstGeom prst="roundRect">
            <a:avLst>
              <a:gd name="adj" fmla="val 7512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Shape 15"/>
          <p:cNvSpPr/>
          <p:nvPr/>
        </p:nvSpPr>
        <p:spPr>
          <a:xfrm>
            <a:off x="1876899" y="1502625"/>
            <a:ext cx="377540" cy="360815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849" y="1603575"/>
            <a:ext cx="196320" cy="196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15655" y="1959205"/>
            <a:ext cx="14203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Noise</a:t>
            </a:r>
            <a:endParaRPr lang="en-US" sz="11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928" y="1941467"/>
            <a:ext cx="218724" cy="2187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72761" y="2196260"/>
            <a:ext cx="928732" cy="448184"/>
          </a:xfrm>
          <a:prstGeom prst="roundRect">
            <a:avLst>
              <a:gd name="adj" fmla="val 7512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Shape 21"/>
          <p:cNvSpPr/>
          <p:nvPr/>
        </p:nvSpPr>
        <p:spPr>
          <a:xfrm>
            <a:off x="724343" y="2243225"/>
            <a:ext cx="287912" cy="269918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897" y="2300057"/>
            <a:ext cx="149714" cy="14151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94468" y="2747451"/>
            <a:ext cx="14203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Synchronization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1722439" y="2181563"/>
            <a:ext cx="704088" cy="501615"/>
          </a:xfrm>
          <a:prstGeom prst="roundRect">
            <a:avLst>
              <a:gd name="adj" fmla="val 7512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Shape 24"/>
          <p:cNvSpPr/>
          <p:nvPr/>
        </p:nvSpPr>
        <p:spPr>
          <a:xfrm>
            <a:off x="1815527" y="2203679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6477" y="2304629"/>
            <a:ext cx="218724" cy="2187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25017" y="2750170"/>
            <a:ext cx="142036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signals</a:t>
            </a:r>
            <a:endParaRPr lang="en-US" sz="115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9928" y="3116471"/>
            <a:ext cx="218724" cy="21872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2761125" y="1499579"/>
            <a:ext cx="1500110" cy="1332759"/>
          </a:xfrm>
          <a:prstGeom prst="roundRect">
            <a:avLst>
              <a:gd name="adj" fmla="val 4255"/>
            </a:avLst>
          </a:prstGeom>
          <a:solidFill>
            <a:srgbClr val="173A63"/>
          </a:solidFill>
          <a:ln w="19050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8" name="Text 30"/>
          <p:cNvSpPr/>
          <p:nvPr/>
        </p:nvSpPr>
        <p:spPr>
          <a:xfrm>
            <a:off x="2747473" y="1780467"/>
            <a:ext cx="1494426" cy="50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70–80%</a:t>
            </a:r>
            <a:endParaRPr lang="en-US" sz="3200" dirty="0"/>
          </a:p>
        </p:txBody>
      </p:sp>
      <p:sp>
        <p:nvSpPr>
          <p:cNvPr id="39" name="Text 31"/>
          <p:cNvSpPr/>
          <p:nvPr/>
        </p:nvSpPr>
        <p:spPr>
          <a:xfrm>
            <a:off x="2836418" y="2214460"/>
            <a:ext cx="1445246" cy="55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scientist's time is spent preparing data</a:t>
            </a:r>
            <a:endParaRPr lang="en-US" sz="1350" dirty="0"/>
          </a:p>
        </p:txBody>
      </p:sp>
      <p:sp>
        <p:nvSpPr>
          <p:cNvPr id="40" name="Shape 32"/>
          <p:cNvSpPr/>
          <p:nvPr/>
        </p:nvSpPr>
        <p:spPr>
          <a:xfrm>
            <a:off x="226452" y="3738201"/>
            <a:ext cx="4014500" cy="658368"/>
          </a:xfrm>
          <a:prstGeom prst="roundRect">
            <a:avLst>
              <a:gd name="adj" fmla="val 11111"/>
            </a:avLst>
          </a:prstGeom>
          <a:solidFill>
            <a:srgbClr val="0E2038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1" name="Text 33"/>
          <p:cNvSpPr/>
          <p:nvPr/>
        </p:nvSpPr>
        <p:spPr>
          <a:xfrm>
            <a:off x="418202" y="3762356"/>
            <a:ext cx="38634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signals in, reliable models out  </a:t>
            </a:r>
          </a:p>
          <a:p>
            <a:pPr marL="0" indent="0" algn="l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engineers add the most value.</a:t>
            </a:r>
            <a:endParaRPr lang="en-US" sz="140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75" name="Signal underline"/>
          <p:cNvSpPr/>
          <p:nvPr/>
        </p:nvSpPr>
        <p:spPr>
          <a:xfrm>
            <a:off x="521133" y="1050914"/>
            <a:ext cx="1828800" cy="80000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EF0CA455-6E12-3C44-CC5B-36461C179CC9}"/>
              </a:ext>
            </a:extLst>
          </p:cNvPr>
          <p:cNvSpPr/>
          <p:nvPr/>
        </p:nvSpPr>
        <p:spPr>
          <a:xfrm>
            <a:off x="5025328" y="572916"/>
            <a:ext cx="387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3" name="Signal underline">
            <a:extLst>
              <a:ext uri="{FF2B5EF4-FFF2-40B4-BE49-F238E27FC236}">
                <a16:creationId xmlns:a16="http://schemas.microsoft.com/office/drawing/2014/main" id="{7EC2B26F-CC33-9C2F-F82D-706A1A5B3D53}"/>
              </a:ext>
            </a:extLst>
          </p:cNvPr>
          <p:cNvSpPr/>
          <p:nvPr/>
        </p:nvSpPr>
        <p:spPr>
          <a:xfrm>
            <a:off x="5025327" y="989276"/>
            <a:ext cx="1284455" cy="99048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4693F54B-A846-C8C2-B133-4C7096DF66E0}"/>
              </a:ext>
            </a:extLst>
          </p:cNvPr>
          <p:cNvSpPr/>
          <p:nvPr/>
        </p:nvSpPr>
        <p:spPr>
          <a:xfrm>
            <a:off x="4698368" y="1094627"/>
            <a:ext cx="4280957" cy="716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</a:t>
            </a:r>
            <a:r>
              <a:rPr lang="en-US" sz="1500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raw data into insight of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EAF2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Instead of raw </a:t>
            </a: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Torque</a:t>
            </a:r>
            <a:r>
              <a:rPr lang="en-US" sz="1500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Calculate</a:t>
            </a:r>
            <a:r>
              <a:rPr lang="en-US" sz="15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:</a:t>
            </a:r>
            <a:endParaRPr lang="en-US" sz="1500" dirty="0"/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E3A6DAAC-B74C-0747-1B9D-B999D0F4BA4C}"/>
              </a:ext>
            </a:extLst>
          </p:cNvPr>
          <p:cNvSpPr/>
          <p:nvPr/>
        </p:nvSpPr>
        <p:spPr>
          <a:xfrm>
            <a:off x="4672395" y="1890101"/>
            <a:ext cx="1637388" cy="502920"/>
          </a:xfrm>
          <a:prstGeom prst="roundRect">
            <a:avLst>
              <a:gd name="adj" fmla="val 1090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184FB038-CD16-1A8D-C4CE-77FDEB93858F}"/>
              </a:ext>
            </a:extLst>
          </p:cNvPr>
          <p:cNvSpPr/>
          <p:nvPr/>
        </p:nvSpPr>
        <p:spPr>
          <a:xfrm>
            <a:off x="4818699" y="2095841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DE13A860-5D60-5221-8A03-79A14C6E9E50}"/>
              </a:ext>
            </a:extLst>
          </p:cNvPr>
          <p:cNvSpPr/>
          <p:nvPr/>
        </p:nvSpPr>
        <p:spPr>
          <a:xfrm>
            <a:off x="5038155" y="1890101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torque</a:t>
            </a:r>
            <a:endParaRPr lang="en-US" sz="1250" dirty="0"/>
          </a:p>
        </p:txBody>
      </p:sp>
      <p:sp>
        <p:nvSpPr>
          <p:cNvPr id="8" name="Shape 15">
            <a:extLst>
              <a:ext uri="{FF2B5EF4-FFF2-40B4-BE49-F238E27FC236}">
                <a16:creationId xmlns:a16="http://schemas.microsoft.com/office/drawing/2014/main" id="{8DDE16AE-99BF-91F8-6A03-1FCD15AA27D6}"/>
              </a:ext>
            </a:extLst>
          </p:cNvPr>
          <p:cNvSpPr/>
          <p:nvPr/>
        </p:nvSpPr>
        <p:spPr>
          <a:xfrm>
            <a:off x="6551987" y="1877419"/>
            <a:ext cx="1840718" cy="502920"/>
          </a:xfrm>
          <a:prstGeom prst="roundRect">
            <a:avLst>
              <a:gd name="adj" fmla="val 1090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65391906-68C6-68AD-E4E6-AFB55C7B6891}"/>
              </a:ext>
            </a:extLst>
          </p:cNvPr>
          <p:cNvSpPr/>
          <p:nvPr/>
        </p:nvSpPr>
        <p:spPr>
          <a:xfrm>
            <a:off x="6698291" y="2083159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C371DB1A-476E-1D75-F8E6-D0B627A60D81}"/>
              </a:ext>
            </a:extLst>
          </p:cNvPr>
          <p:cNvSpPr/>
          <p:nvPr/>
        </p:nvSpPr>
        <p:spPr>
          <a:xfrm>
            <a:off x="6839465" y="1869753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torque</a:t>
            </a:r>
            <a:endParaRPr lang="en-US" sz="125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6DD538F3-21AD-2077-B7AF-3061F9E736EC}"/>
              </a:ext>
            </a:extLst>
          </p:cNvPr>
          <p:cNvSpPr/>
          <p:nvPr/>
        </p:nvSpPr>
        <p:spPr>
          <a:xfrm>
            <a:off x="4672395" y="2539325"/>
            <a:ext cx="1705350" cy="502920"/>
          </a:xfrm>
          <a:prstGeom prst="roundRect">
            <a:avLst>
              <a:gd name="adj" fmla="val 1090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B91F5AAB-D30A-18B9-78DF-11F619013B81}"/>
              </a:ext>
            </a:extLst>
          </p:cNvPr>
          <p:cNvSpPr/>
          <p:nvPr/>
        </p:nvSpPr>
        <p:spPr>
          <a:xfrm>
            <a:off x="4818699" y="2745065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B06AD41C-BE89-1C81-0016-84591C730B99}"/>
              </a:ext>
            </a:extLst>
          </p:cNvPr>
          <p:cNvSpPr/>
          <p:nvPr/>
        </p:nvSpPr>
        <p:spPr>
          <a:xfrm>
            <a:off x="5038155" y="253932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ripple</a:t>
            </a:r>
            <a:endParaRPr lang="en-US" sz="125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43280F4E-F8BD-C054-6A05-EE6530DA1F7F}"/>
              </a:ext>
            </a:extLst>
          </p:cNvPr>
          <p:cNvSpPr/>
          <p:nvPr/>
        </p:nvSpPr>
        <p:spPr>
          <a:xfrm>
            <a:off x="6551987" y="2522453"/>
            <a:ext cx="1840718" cy="502920"/>
          </a:xfrm>
          <a:prstGeom prst="roundRect">
            <a:avLst>
              <a:gd name="adj" fmla="val 1090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AF50F9C5-D0FC-17C6-3B38-D4E64F1423C2}"/>
              </a:ext>
            </a:extLst>
          </p:cNvPr>
          <p:cNvSpPr/>
          <p:nvPr/>
        </p:nvSpPr>
        <p:spPr>
          <a:xfrm>
            <a:off x="6698291" y="2728193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BC4DB421-C711-45D3-CDFE-A27734B31469}"/>
              </a:ext>
            </a:extLst>
          </p:cNvPr>
          <p:cNvSpPr/>
          <p:nvPr/>
        </p:nvSpPr>
        <p:spPr>
          <a:xfrm>
            <a:off x="6858000" y="250767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250" dirty="0"/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7505E911-92D3-A897-012E-7CED9BCC18A0}"/>
              </a:ext>
            </a:extLst>
          </p:cNvPr>
          <p:cNvSpPr/>
          <p:nvPr/>
        </p:nvSpPr>
        <p:spPr>
          <a:xfrm>
            <a:off x="4672395" y="3188549"/>
            <a:ext cx="1754777" cy="502920"/>
          </a:xfrm>
          <a:prstGeom prst="roundRect">
            <a:avLst>
              <a:gd name="adj" fmla="val 1090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1" name="Shape 25">
            <a:extLst>
              <a:ext uri="{FF2B5EF4-FFF2-40B4-BE49-F238E27FC236}">
                <a16:creationId xmlns:a16="http://schemas.microsoft.com/office/drawing/2014/main" id="{CA53EDD1-0891-E2B0-C65A-1669567878B2}"/>
              </a:ext>
            </a:extLst>
          </p:cNvPr>
          <p:cNvSpPr/>
          <p:nvPr/>
        </p:nvSpPr>
        <p:spPr>
          <a:xfrm>
            <a:off x="4818699" y="3394289"/>
            <a:ext cx="91440" cy="9144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293D59EB-B81B-D094-39CF-E27821408DD9}"/>
              </a:ext>
            </a:extLst>
          </p:cNvPr>
          <p:cNvSpPr/>
          <p:nvPr/>
        </p:nvSpPr>
        <p:spPr>
          <a:xfrm>
            <a:off x="5038155" y="3188549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speed</a:t>
            </a:r>
            <a:endParaRPr lang="en-US" sz="1250" dirty="0"/>
          </a:p>
        </p:txBody>
      </p:sp>
      <p:sp>
        <p:nvSpPr>
          <p:cNvPr id="53" name="Shape 27">
            <a:extLst>
              <a:ext uri="{FF2B5EF4-FFF2-40B4-BE49-F238E27FC236}">
                <a16:creationId xmlns:a16="http://schemas.microsoft.com/office/drawing/2014/main" id="{0EF28869-23B3-CB81-BDEC-01FB45C94758}"/>
              </a:ext>
            </a:extLst>
          </p:cNvPr>
          <p:cNvSpPr/>
          <p:nvPr/>
        </p:nvSpPr>
        <p:spPr>
          <a:xfrm>
            <a:off x="6573476" y="3194852"/>
            <a:ext cx="1840718" cy="502920"/>
          </a:xfrm>
          <a:prstGeom prst="roundRect">
            <a:avLst>
              <a:gd name="adj" fmla="val 10909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0E33C2E2-EB3A-00EC-EFFE-2F28CE22CA70}"/>
              </a:ext>
            </a:extLst>
          </p:cNvPr>
          <p:cNvSpPr/>
          <p:nvPr/>
        </p:nvSpPr>
        <p:spPr>
          <a:xfrm>
            <a:off x="6719780" y="3400592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0FDF5282-0173-A51A-867A-DF671A65F574}"/>
              </a:ext>
            </a:extLst>
          </p:cNvPr>
          <p:cNvSpPr/>
          <p:nvPr/>
        </p:nvSpPr>
        <p:spPr>
          <a:xfrm>
            <a:off x="6907202" y="3188549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1250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B7E86E6-0F0E-16AC-75F4-111D8FC59BFF}"/>
              </a:ext>
            </a:extLst>
          </p:cNvPr>
          <p:cNvCxnSpPr>
            <a:cxnSpLocks/>
            <a:stCxn id="10" idx="0"/>
          </p:cNvCxnSpPr>
          <p:nvPr/>
        </p:nvCxnSpPr>
        <p:spPr>
          <a:xfrm>
            <a:off x="4526280" y="548640"/>
            <a:ext cx="39142" cy="388125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963" name="Shape 32">
            <a:extLst>
              <a:ext uri="{FF2B5EF4-FFF2-40B4-BE49-F238E27FC236}">
                <a16:creationId xmlns:a16="http://schemas.microsoft.com/office/drawing/2014/main" id="{E8DDAD35-B8AD-03B1-07E8-8A6C06C64C02}"/>
              </a:ext>
            </a:extLst>
          </p:cNvPr>
          <p:cNvSpPr/>
          <p:nvPr/>
        </p:nvSpPr>
        <p:spPr>
          <a:xfrm>
            <a:off x="4829414" y="3818088"/>
            <a:ext cx="4014500" cy="658368"/>
          </a:xfrm>
          <a:prstGeom prst="roundRect">
            <a:avLst>
              <a:gd name="adj" fmla="val 11111"/>
            </a:avLst>
          </a:prstGeom>
          <a:solidFill>
            <a:srgbClr val="0E2038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 often matter more, </a:t>
            </a:r>
            <a:r>
              <a:rPr lang="en-US" sz="12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 with strong features usually beats a complex model fed raw signals.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TOOLBOX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ML Algorithms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2548128" cy="1065276"/>
          </a:xfrm>
          <a:prstGeom prst="roundRect">
            <a:avLst>
              <a:gd name="adj" fmla="val 686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2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64208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98448" y="1517904"/>
            <a:ext cx="163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31520" y="2084832"/>
            <a:ext cx="2182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Continues Values, Simple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7936" y="1371600"/>
            <a:ext cx="2548128" cy="1065276"/>
          </a:xfrm>
          <a:prstGeom prst="roundRect">
            <a:avLst>
              <a:gd name="adj" fmla="val 686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Shape 16"/>
          <p:cNvSpPr/>
          <p:nvPr/>
        </p:nvSpPr>
        <p:spPr>
          <a:xfrm>
            <a:off x="3480816" y="155448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544" y="1664208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047744" y="1517904"/>
            <a:ext cx="163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Trees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480816" y="2084832"/>
            <a:ext cx="2182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rule-based splits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47232" y="1371600"/>
            <a:ext cx="2548128" cy="1065276"/>
          </a:xfrm>
          <a:prstGeom prst="roundRect">
            <a:avLst>
              <a:gd name="adj" fmla="val 686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Shape 20"/>
          <p:cNvSpPr/>
          <p:nvPr/>
        </p:nvSpPr>
        <p:spPr>
          <a:xfrm>
            <a:off x="6230112" y="15544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166420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97040" y="1517904"/>
            <a:ext cx="163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6230112" y="2084832"/>
            <a:ext cx="2182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classification/ensemble of trees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2638044"/>
            <a:ext cx="2548128" cy="1065276"/>
          </a:xfrm>
          <a:prstGeom prst="roundRect">
            <a:avLst>
              <a:gd name="adj" fmla="val 686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Shape 24"/>
          <p:cNvSpPr/>
          <p:nvPr/>
        </p:nvSpPr>
        <p:spPr>
          <a:xfrm>
            <a:off x="731520" y="2820924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2930652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98448" y="2784348"/>
            <a:ext cx="163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31520" y="3351276"/>
            <a:ext cx="2182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High-accuracy gradient boosting/tabular data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3297936" y="2638044"/>
            <a:ext cx="2548128" cy="1065276"/>
          </a:xfrm>
          <a:prstGeom prst="roundRect">
            <a:avLst>
              <a:gd name="adj" fmla="val 686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Shape 28"/>
          <p:cNvSpPr/>
          <p:nvPr/>
        </p:nvSpPr>
        <p:spPr>
          <a:xfrm>
            <a:off x="3480816" y="2820924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0544" y="2930652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047744" y="2784348"/>
            <a:ext cx="163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Vector Machine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3480816" y="3351276"/>
            <a:ext cx="2182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decision boundaries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047232" y="2638044"/>
            <a:ext cx="2548128" cy="1065276"/>
          </a:xfrm>
          <a:prstGeom prst="roundRect">
            <a:avLst>
              <a:gd name="adj" fmla="val 6867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9" name="Shape 32"/>
          <p:cNvSpPr/>
          <p:nvPr/>
        </p:nvSpPr>
        <p:spPr>
          <a:xfrm>
            <a:off x="6230112" y="282092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9840" y="2930652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797040" y="2784348"/>
            <a:ext cx="1633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Neural Networks</a:t>
            </a:r>
            <a:endParaRPr lang="en-US" sz="1350" dirty="0"/>
          </a:p>
        </p:txBody>
      </p:sp>
      <p:sp>
        <p:nvSpPr>
          <p:cNvPr id="42" name="Text 34"/>
          <p:cNvSpPr/>
          <p:nvPr/>
        </p:nvSpPr>
        <p:spPr>
          <a:xfrm>
            <a:off x="6230112" y="3351276"/>
            <a:ext cx="218236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non-linear patterns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548640" y="3950208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0E2038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4" name="Text 36"/>
          <p:cNvSpPr/>
          <p:nvPr/>
        </p:nvSpPr>
        <p:spPr>
          <a:xfrm>
            <a:off x="804672" y="4041648"/>
            <a:ext cx="7534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problems require different models.</a:t>
            </a:r>
            <a:endParaRPr lang="en-US" sz="150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77" name="Signal underline"/>
          <p:cNvSpPr/>
          <p:nvPr/>
        </p:nvSpPr>
        <p:spPr>
          <a:xfrm>
            <a:off x="548640" y="965000"/>
            <a:ext cx="1828800" cy="80000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</a:t>
            </a:r>
            <a:r>
              <a:rPr lang="en-US" sz="2700" i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Over-torque &amp; Anomaly Detection</a:t>
            </a:r>
            <a:endParaRPr lang="en-US" sz="27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100" name="Left panel"/>
          <p:cNvSpPr/>
          <p:nvPr/>
        </p:nvSpPr>
        <p:spPr>
          <a:xfrm>
            <a:off x="548640" y="1340000"/>
            <a:ext cx="3931920" cy="3180000"/>
          </a:xfrm>
          <a:prstGeom prst="roundRect">
            <a:avLst>
              <a:gd name="adj" fmla="val 4651"/>
            </a:avLst>
          </a:prstGeom>
          <a:solidFill>
            <a:srgbClr val="14304F"/>
          </a:solidFill>
          <a:ln w="15875">
            <a:solidFill>
              <a:srgbClr val="38BDF8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1" name="Right panel"/>
          <p:cNvSpPr/>
          <p:nvPr/>
        </p:nvSpPr>
        <p:spPr>
          <a:xfrm>
            <a:off x="4663440" y="1340000"/>
            <a:ext cx="3931920" cy="3180000"/>
          </a:xfrm>
          <a:prstGeom prst="roundRect">
            <a:avLst>
              <a:gd name="adj" fmla="val 4651"/>
            </a:avLst>
          </a:prstGeom>
          <a:solidFill>
            <a:srgbClr val="173A63"/>
          </a:solidFill>
          <a:ln w="15875">
            <a:solidFill>
              <a:srgbClr val="2DD4BF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2" name="t102"/>
          <p:cNvSpPr/>
          <p:nvPr/>
        </p:nvSpPr>
        <p:spPr>
          <a:xfrm>
            <a:off x="728640" y="1420000"/>
            <a:ext cx="3571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Over-torque model</a:t>
            </a:r>
          </a:p>
        </p:txBody>
      </p:sp>
      <p:sp>
        <p:nvSpPr>
          <p:cNvPr id="103" name="t103"/>
          <p:cNvSpPr/>
          <p:nvPr/>
        </p:nvSpPr>
        <p:spPr>
          <a:xfrm>
            <a:off x="728640" y="1720000"/>
            <a:ext cx="35719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overtorque before it happens</a:t>
            </a:r>
          </a:p>
        </p:txBody>
      </p:sp>
      <p:sp>
        <p:nvSpPr>
          <p:cNvPr id="104" name="Input pill"/>
          <p:cNvSpPr/>
          <p:nvPr/>
        </p:nvSpPr>
        <p:spPr>
          <a:xfrm>
            <a:off x="828640" y="2010000"/>
            <a:ext cx="3371920" cy="420000"/>
          </a:xfrm>
          <a:prstGeom prst="roundRect">
            <a:avLst>
              <a:gd name="adj" fmla="val 20000"/>
            </a:avLst>
          </a:prstGeom>
          <a:solidFill>
            <a:srgbClr val="0F2742"/>
          </a:solidFill>
          <a:ln w="12700">
            <a:solidFill>
              <a:srgbClr val="2749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5" name="t105"/>
          <p:cNvSpPr/>
          <p:nvPr/>
        </p:nvSpPr>
        <p:spPr>
          <a:xfrm>
            <a:off x="828640" y="2010000"/>
            <a:ext cx="337192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· Speed · Temperature · Pedal</a:t>
            </a:r>
          </a:p>
        </p:txBody>
      </p:sp>
      <p:sp>
        <p:nvSpPr>
          <p:cNvPr id="106" name="t106"/>
          <p:cNvSpPr/>
          <p:nvPr/>
        </p:nvSpPr>
        <p:spPr>
          <a:xfrm>
            <a:off x="728640" y="2450000"/>
            <a:ext cx="35719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</a:p>
        </p:txBody>
      </p:sp>
      <p:sp>
        <p:nvSpPr>
          <p:cNvPr id="107" name="Pipeline pill"/>
          <p:cNvSpPr/>
          <p:nvPr/>
        </p:nvSpPr>
        <p:spPr>
          <a:xfrm>
            <a:off x="828640" y="2690000"/>
            <a:ext cx="3371920" cy="520000"/>
          </a:xfrm>
          <a:prstGeom prst="roundRect">
            <a:avLst>
              <a:gd name="adj" fmla="val 12448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8" name="t108"/>
          <p:cNvSpPr/>
          <p:nvPr/>
        </p:nvSpPr>
        <p:spPr>
          <a:xfrm>
            <a:off x="928640" y="2690000"/>
            <a:ext cx="31719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Files → Python → Features → </a:t>
            </a:r>
            <a:r>
              <a:rPr lang="en-US" sz="1050" b="1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</a:p>
        </p:txBody>
      </p:sp>
      <p:sp>
        <p:nvSpPr>
          <p:cNvPr id="109" name="t109"/>
          <p:cNvSpPr/>
          <p:nvPr/>
        </p:nvSpPr>
        <p:spPr>
          <a:xfrm>
            <a:off x="728640" y="3230000"/>
            <a:ext cx="357192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</a:p>
        </p:txBody>
      </p:sp>
      <p:sp>
        <p:nvSpPr>
          <p:cNvPr id="110" name="t110"/>
          <p:cNvSpPr/>
          <p:nvPr/>
        </p:nvSpPr>
        <p:spPr>
          <a:xfrm>
            <a:off x="728640" y="3470000"/>
            <a:ext cx="3571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overtorque occur?</a:t>
            </a:r>
          </a:p>
        </p:txBody>
      </p:sp>
      <p:sp>
        <p:nvSpPr>
          <p:cNvPr id="111" name="Yes pill"/>
          <p:cNvSpPr/>
          <p:nvPr/>
        </p:nvSpPr>
        <p:spPr>
          <a:xfrm>
            <a:off x="1240000" y="3860000"/>
            <a:ext cx="1150000" cy="4400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2" name="t112"/>
          <p:cNvSpPr/>
          <p:nvPr/>
        </p:nvSpPr>
        <p:spPr>
          <a:xfrm>
            <a:off x="1240000" y="3860000"/>
            <a:ext cx="115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1A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YES</a:t>
            </a:r>
          </a:p>
        </p:txBody>
      </p:sp>
      <p:sp>
        <p:nvSpPr>
          <p:cNvPr id="113" name="No pill"/>
          <p:cNvSpPr/>
          <p:nvPr/>
        </p:nvSpPr>
        <p:spPr>
          <a:xfrm>
            <a:off x="2640000" y="3860000"/>
            <a:ext cx="1150000" cy="440000"/>
          </a:xfrm>
          <a:prstGeom prst="roundRect">
            <a:avLst>
              <a:gd name="adj" fmla="val 50000"/>
            </a:avLst>
          </a:prstGeom>
          <a:solidFill>
            <a:srgbClr val="0A1A2F"/>
          </a:solidFill>
          <a:ln w="12700">
            <a:solidFill>
              <a:srgbClr val="BCCF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4" name="t114"/>
          <p:cNvSpPr/>
          <p:nvPr/>
        </p:nvSpPr>
        <p:spPr>
          <a:xfrm>
            <a:off x="2640000" y="3860000"/>
            <a:ext cx="115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BCCF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</a:p>
        </p:txBody>
      </p:sp>
      <p:sp>
        <p:nvSpPr>
          <p:cNvPr id="120" name="t120"/>
          <p:cNvSpPr/>
          <p:nvPr/>
        </p:nvSpPr>
        <p:spPr>
          <a:xfrm>
            <a:off x="4843440" y="1420000"/>
            <a:ext cx="3571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</a:t>
            </a:r>
          </a:p>
        </p:txBody>
      </p:sp>
      <p:sp>
        <p:nvSpPr>
          <p:cNvPr id="121" name="t121"/>
          <p:cNvSpPr/>
          <p:nvPr/>
        </p:nvSpPr>
        <p:spPr>
          <a:xfrm>
            <a:off x="4843440" y="1720000"/>
            <a:ext cx="35719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flags these automatically:</a:t>
            </a:r>
          </a:p>
        </p:txBody>
      </p:sp>
      <p:sp>
        <p:nvSpPr>
          <p:cNvPr id="122" name="dot122"/>
          <p:cNvSpPr/>
          <p:nvPr/>
        </p:nvSpPr>
        <p:spPr>
          <a:xfrm>
            <a:off x="4980000" y="2155000"/>
            <a:ext cx="150000" cy="1500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3" name="t123"/>
          <p:cNvSpPr/>
          <p:nvPr/>
        </p:nvSpPr>
        <p:spPr>
          <a:xfrm>
            <a:off x="5230000" y="2060000"/>
            <a:ext cx="308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torque spikes</a:t>
            </a:r>
          </a:p>
        </p:txBody>
      </p:sp>
      <p:sp>
        <p:nvSpPr>
          <p:cNvPr id="124" name="dot124"/>
          <p:cNvSpPr/>
          <p:nvPr/>
        </p:nvSpPr>
        <p:spPr>
          <a:xfrm>
            <a:off x="4980000" y="2550000"/>
            <a:ext cx="150000" cy="150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5" name="t125"/>
          <p:cNvSpPr/>
          <p:nvPr/>
        </p:nvSpPr>
        <p:spPr>
          <a:xfrm>
            <a:off x="5230000" y="2455000"/>
            <a:ext cx="308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failures</a:t>
            </a:r>
          </a:p>
        </p:txBody>
      </p:sp>
      <p:sp>
        <p:nvSpPr>
          <p:cNvPr id="126" name="dot126"/>
          <p:cNvSpPr/>
          <p:nvPr/>
        </p:nvSpPr>
        <p:spPr>
          <a:xfrm>
            <a:off x="4980000" y="2945000"/>
            <a:ext cx="150000" cy="1500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7" name="t127"/>
          <p:cNvSpPr/>
          <p:nvPr/>
        </p:nvSpPr>
        <p:spPr>
          <a:xfrm>
            <a:off x="5230000" y="2850000"/>
            <a:ext cx="308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vibration</a:t>
            </a:r>
          </a:p>
        </p:txBody>
      </p:sp>
      <p:sp>
        <p:nvSpPr>
          <p:cNvPr id="128" name="dot128"/>
          <p:cNvSpPr/>
          <p:nvPr/>
        </p:nvSpPr>
        <p:spPr>
          <a:xfrm>
            <a:off x="4980000" y="3340000"/>
            <a:ext cx="150000" cy="150000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9" name="t129"/>
          <p:cNvSpPr/>
          <p:nvPr/>
        </p:nvSpPr>
        <p:spPr>
          <a:xfrm>
            <a:off x="5230000" y="3245000"/>
            <a:ext cx="308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faults</a:t>
            </a:r>
          </a:p>
        </p:txBody>
      </p:sp>
      <p:sp>
        <p:nvSpPr>
          <p:cNvPr id="130" name="dot130"/>
          <p:cNvSpPr/>
          <p:nvPr/>
        </p:nvSpPr>
        <p:spPr>
          <a:xfrm>
            <a:off x="4980000" y="3735000"/>
            <a:ext cx="150000" cy="1500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1" name="t131"/>
          <p:cNvSpPr/>
          <p:nvPr/>
        </p:nvSpPr>
        <p:spPr>
          <a:xfrm>
            <a:off x="5230000" y="3640000"/>
            <a:ext cx="308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temperature increase</a:t>
            </a:r>
          </a:p>
        </p:txBody>
      </p:sp>
      <p:sp>
        <p:nvSpPr>
          <p:cNvPr id="140" name="t140"/>
          <p:cNvSpPr/>
          <p:nvPr/>
        </p:nvSpPr>
        <p:spPr>
          <a:xfrm>
            <a:off x="4843440" y="4080000"/>
            <a:ext cx="35719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</a:rPr>
              <a:t>A natural fit: </a:t>
            </a:r>
            <a:r>
              <a:rPr lang="en-US" sz="950" dirty="0">
                <a:solidFill>
                  <a:srgbClr val="BCCFE9"/>
                </a:solidFill>
                <a:latin typeface="Calibri" pitchFamily="34" charset="0"/>
              </a:rPr>
              <a:t>engineers already look for these — ML does it continuously.</a:t>
            </a:r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78" name="Signal underline"/>
          <p:cNvSpPr/>
          <p:nvPr/>
        </p:nvSpPr>
        <p:spPr>
          <a:xfrm>
            <a:off x="548640" y="965000"/>
            <a:ext cx="1828800" cy="80000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832425F-1008-B978-E2AF-CE9A93FC7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121802"/>
              </p:ext>
            </p:extLst>
          </p:nvPr>
        </p:nvGraphicFramePr>
        <p:xfrm>
          <a:off x="394215" y="2799527"/>
          <a:ext cx="1891785" cy="158496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630595">
                  <a:extLst>
                    <a:ext uri="{9D8B030D-6E8A-4147-A177-3AD203B41FA5}">
                      <a16:colId xmlns:a16="http://schemas.microsoft.com/office/drawing/2014/main" val="502197428"/>
                    </a:ext>
                  </a:extLst>
                </a:gridCol>
                <a:gridCol w="630595">
                  <a:extLst>
                    <a:ext uri="{9D8B030D-6E8A-4147-A177-3AD203B41FA5}">
                      <a16:colId xmlns:a16="http://schemas.microsoft.com/office/drawing/2014/main" val="2953727354"/>
                    </a:ext>
                  </a:extLst>
                </a:gridCol>
                <a:gridCol w="630595">
                  <a:extLst>
                    <a:ext uri="{9D8B030D-6E8A-4147-A177-3AD203B41FA5}">
                      <a16:colId xmlns:a16="http://schemas.microsoft.com/office/drawing/2014/main" val="3333933170"/>
                    </a:ext>
                  </a:extLst>
                </a:gridCol>
              </a:tblGrid>
              <a:tr h="340979">
                <a:tc>
                  <a:txBody>
                    <a:bodyPr/>
                    <a:lstStyle/>
                    <a:p>
                      <a:r>
                        <a:rPr lang="en-US" sz="1000" dirty="0"/>
                        <a:t>Actual /</a:t>
                      </a:r>
                      <a:r>
                        <a:rPr lang="en-US" sz="1000" dirty="0">
                          <a:highlight>
                            <a:srgbClr val="FF0000"/>
                          </a:highlight>
                        </a:rPr>
                        <a:t>120</a:t>
                      </a:r>
                      <a:r>
                        <a:rPr lang="en-US" sz="1000" dirty="0"/>
                        <a:t> </a:t>
                      </a:r>
                      <a:endParaRPr lang="en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Predict</a:t>
                      </a:r>
                      <a:endParaRPr lang="en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Result</a:t>
                      </a:r>
                      <a:endParaRPr lang="en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524355"/>
                  </a:ext>
                </a:extLst>
              </a:tr>
              <a:tr h="340979">
                <a:tc>
                  <a:txBody>
                    <a:bodyPr/>
                    <a:lstStyle/>
                    <a:p>
                      <a:r>
                        <a:rPr lang="en-US" sz="1000" dirty="0"/>
                        <a:t>over torque</a:t>
                      </a:r>
                      <a:endParaRPr lang="en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over torque</a:t>
                      </a:r>
                      <a:endParaRPr lang="en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95</a:t>
                      </a:r>
                      <a:endParaRPr lang="en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896435"/>
                  </a:ext>
                </a:extLst>
              </a:tr>
              <a:tr h="340979">
                <a:tc>
                  <a:txBody>
                    <a:bodyPr/>
                    <a:lstStyle/>
                    <a:p>
                      <a:r>
                        <a:rPr lang="en-US" sz="1000" dirty="0"/>
                        <a:t>normal</a:t>
                      </a:r>
                      <a:endParaRPr lang="en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Over torque</a:t>
                      </a:r>
                      <a:endParaRPr lang="en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</a:t>
                      </a:r>
                      <a:endParaRPr lang="en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242627"/>
                  </a:ext>
                </a:extLst>
              </a:tr>
              <a:tr h="340979">
                <a:tc>
                  <a:txBody>
                    <a:bodyPr/>
                    <a:lstStyle/>
                    <a:p>
                      <a:r>
                        <a:rPr lang="en-US" sz="1000" dirty="0"/>
                        <a:t>Over torque</a:t>
                      </a:r>
                      <a:endParaRPr lang="en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Normal </a:t>
                      </a:r>
                      <a:endParaRPr lang="en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  <a:endParaRPr lang="en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780799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THE MODEL WORK?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1463040" cy="1363916"/>
          </a:xfrm>
          <a:prstGeom prst="roundRect">
            <a:avLst>
              <a:gd name="adj" fmla="val 516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2"/>
          <p:cNvSpPr/>
          <p:nvPr/>
        </p:nvSpPr>
        <p:spPr>
          <a:xfrm>
            <a:off x="1069848" y="1499616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98" y="1600566"/>
            <a:ext cx="218724" cy="2187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1984248"/>
            <a:ext cx="128016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cs typeface="Calibri"/>
              </a:rPr>
              <a:t>(TP + TN) / Total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latin typeface="Calibri"/>
                <a:cs typeface="Calibri"/>
              </a:rPr>
              <a:t>Percentage of correct predictions.,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highlight>
                  <a:srgbClr val="FF0000"/>
                </a:highlight>
                <a:latin typeface="Calibri"/>
                <a:cs typeface="Calibri"/>
              </a:rPr>
              <a:t>97</a:t>
            </a:r>
            <a:endParaRPr lang="en-US" sz="800" dirty="0">
              <a:highlight>
                <a:srgbClr val="FF0000"/>
              </a:highlight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194560" y="1371600"/>
            <a:ext cx="1463040" cy="1363916"/>
          </a:xfrm>
          <a:prstGeom prst="roundRect">
            <a:avLst>
              <a:gd name="adj" fmla="val 516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Shape 15"/>
          <p:cNvSpPr/>
          <p:nvPr/>
        </p:nvSpPr>
        <p:spPr>
          <a:xfrm>
            <a:off x="2715768" y="149961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718" y="1600566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286000" y="1984248"/>
            <a:ext cx="128016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cs typeface="Calibri"/>
              </a:rPr>
              <a:t>TP / (TP + FP)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latin typeface="Calibri"/>
                <a:cs typeface="Calibri"/>
              </a:rPr>
              <a:t>Correct positive calls, how often is it correct !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highlight>
                  <a:srgbClr val="FF0000"/>
                </a:highlight>
                <a:latin typeface="Calibri"/>
                <a:cs typeface="Calibri"/>
              </a:rPr>
              <a:t>79.2</a:t>
            </a:r>
            <a:endParaRPr lang="en-US" sz="800" dirty="0">
              <a:highlight>
                <a:srgbClr val="FF0000"/>
              </a:highlight>
            </a:endParaRPr>
          </a:p>
        </p:txBody>
      </p:sp>
      <p:sp>
        <p:nvSpPr>
          <p:cNvPr id="21" name="Shape 17"/>
          <p:cNvSpPr/>
          <p:nvPr/>
        </p:nvSpPr>
        <p:spPr>
          <a:xfrm>
            <a:off x="3840480" y="1371600"/>
            <a:ext cx="1463040" cy="1363916"/>
          </a:xfrm>
          <a:prstGeom prst="roundRect">
            <a:avLst>
              <a:gd name="adj" fmla="val 516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Shape 18"/>
          <p:cNvSpPr/>
          <p:nvPr/>
        </p:nvSpPr>
        <p:spPr>
          <a:xfrm>
            <a:off x="4361688" y="1499616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638" y="1600566"/>
            <a:ext cx="218724" cy="2187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931920" y="1984248"/>
            <a:ext cx="128016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cs typeface="Calibri"/>
              </a:rPr>
              <a:t>TP / (TP + FN)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latin typeface="Calibri"/>
                <a:cs typeface="Calibri"/>
              </a:rPr>
              <a:t>Real faults caught, how many faults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highlight>
                  <a:srgbClr val="FF0000"/>
                </a:highlight>
                <a:latin typeface="Calibri"/>
                <a:cs typeface="Calibri"/>
              </a:rPr>
              <a:t>95</a:t>
            </a:r>
            <a:endParaRPr lang="en-US" sz="800" dirty="0">
              <a:highlight>
                <a:srgbClr val="FF0000"/>
              </a:highlight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486400" y="1371600"/>
            <a:ext cx="1463040" cy="1363916"/>
          </a:xfrm>
          <a:prstGeom prst="roundRect">
            <a:avLst>
              <a:gd name="adj" fmla="val 516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Shape 21"/>
          <p:cNvSpPr/>
          <p:nvPr/>
        </p:nvSpPr>
        <p:spPr>
          <a:xfrm>
            <a:off x="6007608" y="1499616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558" y="1600566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77840" y="1984248"/>
            <a:ext cx="128016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F1-score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cs typeface="Calibri"/>
              </a:rPr>
              <a:t>2 · P · R / (P + R)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latin typeface="Calibri"/>
                <a:cs typeface="Calibri"/>
              </a:rPr>
              <a:t>Balances precision and recall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highlight>
                  <a:srgbClr val="FF0000"/>
                </a:highlight>
                <a:latin typeface="Calibri"/>
                <a:cs typeface="Calibri"/>
              </a:rPr>
              <a:t>86.4</a:t>
            </a:r>
            <a:endParaRPr lang="en-US" sz="800" dirty="0">
              <a:highlight>
                <a:srgbClr val="FF0000"/>
              </a:highlight>
            </a:endParaRPr>
          </a:p>
        </p:txBody>
      </p:sp>
      <p:sp>
        <p:nvSpPr>
          <p:cNvPr id="29" name="Shape 23"/>
          <p:cNvSpPr/>
          <p:nvPr/>
        </p:nvSpPr>
        <p:spPr>
          <a:xfrm>
            <a:off x="7132320" y="1371600"/>
            <a:ext cx="1463040" cy="1363916"/>
          </a:xfrm>
          <a:prstGeom prst="roundRect">
            <a:avLst>
              <a:gd name="adj" fmla="val 516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Shape 24"/>
          <p:cNvSpPr/>
          <p:nvPr/>
        </p:nvSpPr>
        <p:spPr>
          <a:xfrm>
            <a:off x="7653528" y="149961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4478" y="1600566"/>
            <a:ext cx="218724" cy="2187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23760" y="1984248"/>
            <a:ext cx="128016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alibri"/>
                <a:cs typeface="Calibri"/>
              </a:rPr>
              <a:t>TP FP / FN TN</a:t>
            </a:r>
            <a:endParaRPr lang="en-US" sz="9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CCFE9"/>
                </a:solidFill>
                <a:latin typeface="Calibri"/>
                <a:cs typeface="Calibri"/>
              </a:rPr>
              <a:t>Predicted vs. actual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2574150" y="3238155"/>
            <a:ext cx="6377421" cy="1184682"/>
          </a:xfrm>
          <a:prstGeom prst="roundRect">
            <a:avLst>
              <a:gd name="adj" fmla="val 5714"/>
            </a:avLst>
          </a:prstGeom>
          <a:solidFill>
            <a:srgbClr val="173A63"/>
          </a:solidFill>
          <a:ln w="15875">
            <a:solidFill>
              <a:srgbClr val="FBBF24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Text 27"/>
          <p:cNvSpPr/>
          <p:nvPr/>
        </p:nvSpPr>
        <p:spPr>
          <a:xfrm>
            <a:off x="2650990" y="3394722"/>
            <a:ext cx="5721819" cy="968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fault detection, not all errors are equal.
</a:t>
            </a:r>
            <a:endParaRPr lang="en-US" sz="160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real fault can be far more costly than raising a false alarm </a:t>
            </a:r>
          </a:p>
          <a:p>
            <a:pPr marL="0" indent="0" algn="ctr">
              <a:buNone/>
            </a:pPr>
            <a:r>
              <a:rPr lang="en-US" sz="13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 </a:t>
            </a:r>
            <a:r>
              <a:rPr lang="en-US" sz="1350" b="1" dirty="0">
                <a:solidFill>
                  <a:srgbClr val="BCCFE9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35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often matters more than raw accuracy.</a:t>
            </a:r>
            <a:endParaRPr lang="en-US" sz="160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A47F05D-6C75-43CD-27D3-1F3DF53D58C1}"/>
              </a:ext>
            </a:extLst>
          </p:cNvPr>
          <p:cNvSpPr txBox="1"/>
          <p:nvPr/>
        </p:nvSpPr>
        <p:spPr>
          <a:xfrm>
            <a:off x="543702" y="974451"/>
            <a:ext cx="4983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Evaluate using data the model has never seen before</a:t>
            </a:r>
            <a:endParaRPr lang="en-SE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TO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 Use Cases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1874520" cy="1421892"/>
          </a:xfrm>
          <a:prstGeom prst="roundRect">
            <a:avLst>
              <a:gd name="adj" fmla="val 5145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2"/>
          <p:cNvSpPr/>
          <p:nvPr/>
        </p:nvSpPr>
        <p:spPr>
          <a:xfrm>
            <a:off x="1275588" y="1499616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38" y="1600566"/>
            <a:ext cx="218724" cy="2187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1984248"/>
            <a:ext cx="169164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overtorque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606040" y="1371600"/>
            <a:ext cx="1874520" cy="1421892"/>
          </a:xfrm>
          <a:prstGeom prst="roundRect">
            <a:avLst>
              <a:gd name="adj" fmla="val 5145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Shape 15"/>
          <p:cNvSpPr/>
          <p:nvPr/>
        </p:nvSpPr>
        <p:spPr>
          <a:xfrm>
            <a:off x="3332988" y="149961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938" y="1600566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97480" y="1984248"/>
            <a:ext cx="169164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Battery health prediction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663440" y="1371600"/>
            <a:ext cx="1874520" cy="1421892"/>
          </a:xfrm>
          <a:prstGeom prst="roundRect">
            <a:avLst>
              <a:gd name="adj" fmla="val 5145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Shape 18"/>
          <p:cNvSpPr/>
          <p:nvPr/>
        </p:nvSpPr>
        <p:spPr>
          <a:xfrm>
            <a:off x="5390388" y="1499616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338" y="1600566"/>
            <a:ext cx="218724" cy="2187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4880" y="1984248"/>
            <a:ext cx="169164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Motor fault detection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720840" y="1371600"/>
            <a:ext cx="1874520" cy="1421892"/>
          </a:xfrm>
          <a:prstGeom prst="roundRect">
            <a:avLst>
              <a:gd name="adj" fmla="val 5145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Shape 21"/>
          <p:cNvSpPr/>
          <p:nvPr/>
        </p:nvSpPr>
        <p:spPr>
          <a:xfrm>
            <a:off x="7447788" y="1499616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8738" y="1600566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12280" y="1984248"/>
            <a:ext cx="169164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Remaining useful life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3012948"/>
            <a:ext cx="1874520" cy="1421892"/>
          </a:xfrm>
          <a:prstGeom prst="roundRect">
            <a:avLst>
              <a:gd name="adj" fmla="val 5145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Shape 24"/>
          <p:cNvSpPr/>
          <p:nvPr/>
        </p:nvSpPr>
        <p:spPr>
          <a:xfrm>
            <a:off x="1275588" y="3140964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6538" y="3241914"/>
            <a:ext cx="218724" cy="2187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40080" y="3625596"/>
            <a:ext cx="169164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2606040" y="3012948"/>
            <a:ext cx="1874520" cy="1421892"/>
          </a:xfrm>
          <a:prstGeom prst="roundRect">
            <a:avLst>
              <a:gd name="adj" fmla="val 5145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Shape 27"/>
          <p:cNvSpPr/>
          <p:nvPr/>
        </p:nvSpPr>
        <p:spPr>
          <a:xfrm>
            <a:off x="3332988" y="3140964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3938" y="3241914"/>
            <a:ext cx="218724" cy="2187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697480" y="3625596"/>
            <a:ext cx="169164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consumption optimization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4663440" y="3012948"/>
            <a:ext cx="1874520" cy="1421892"/>
          </a:xfrm>
          <a:prstGeom prst="roundRect">
            <a:avLst>
              <a:gd name="adj" fmla="val 5145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8" name="Shape 30"/>
          <p:cNvSpPr/>
          <p:nvPr/>
        </p:nvSpPr>
        <p:spPr>
          <a:xfrm>
            <a:off x="5390388" y="3140964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1338" y="3241914"/>
            <a:ext cx="218724" cy="2187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754880" y="3625596"/>
            <a:ext cx="169164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 behavior analysis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6720840" y="3012948"/>
            <a:ext cx="1874520" cy="1421892"/>
          </a:xfrm>
          <a:prstGeom prst="roundRect">
            <a:avLst>
              <a:gd name="adj" fmla="val 5145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2" name="Shape 33"/>
          <p:cNvSpPr/>
          <p:nvPr/>
        </p:nvSpPr>
        <p:spPr>
          <a:xfrm>
            <a:off x="7447788" y="3140964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8738" y="3241914"/>
            <a:ext cx="218724" cy="21872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812280" y="3625596"/>
            <a:ext cx="169164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diagnostics</a:t>
            </a:r>
            <a:endParaRPr lang="en-US" sz="115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81" name="Signal underline"/>
          <p:cNvSpPr/>
          <p:nvPr/>
        </p:nvSpPr>
        <p:spPr>
          <a:xfrm>
            <a:off x="548640" y="965000"/>
            <a:ext cx="1828800" cy="80000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IT HARD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1874520" cy="1088136"/>
          </a:xfrm>
          <a:prstGeom prst="roundRect">
            <a:avLst>
              <a:gd name="adj" fmla="val 672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2"/>
          <p:cNvSpPr/>
          <p:nvPr/>
        </p:nvSpPr>
        <p:spPr>
          <a:xfrm>
            <a:off x="1275588" y="1499616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38" y="1600566"/>
            <a:ext cx="218724" cy="2187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19842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High-frequency signals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606040" y="1371600"/>
            <a:ext cx="1874520" cy="1088136"/>
          </a:xfrm>
          <a:prstGeom prst="roundRect">
            <a:avLst>
              <a:gd name="adj" fmla="val 672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Shape 15"/>
          <p:cNvSpPr/>
          <p:nvPr/>
        </p:nvSpPr>
        <p:spPr>
          <a:xfrm>
            <a:off x="3332988" y="1499616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3938" y="1600566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97480" y="19842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datasets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663440" y="1371600"/>
            <a:ext cx="1874520" cy="1088136"/>
          </a:xfrm>
          <a:prstGeom prst="roundRect">
            <a:avLst>
              <a:gd name="adj" fmla="val 672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Shape 18"/>
          <p:cNvSpPr/>
          <p:nvPr/>
        </p:nvSpPr>
        <p:spPr>
          <a:xfrm>
            <a:off x="5390388" y="1499616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338" y="1600566"/>
            <a:ext cx="218724" cy="2187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4880" y="19842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Noise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720840" y="1371600"/>
            <a:ext cx="1874520" cy="1088136"/>
          </a:xfrm>
          <a:prstGeom prst="roundRect">
            <a:avLst>
              <a:gd name="adj" fmla="val 672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Shape 21"/>
          <p:cNvSpPr/>
          <p:nvPr/>
        </p:nvSpPr>
        <p:spPr>
          <a:xfrm>
            <a:off x="7447788" y="1499616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8738" y="1600566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12280" y="198424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48640" y="2660904"/>
            <a:ext cx="1874520" cy="1088136"/>
          </a:xfrm>
          <a:prstGeom prst="roundRect">
            <a:avLst>
              <a:gd name="adj" fmla="val 672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Shape 24"/>
          <p:cNvSpPr/>
          <p:nvPr/>
        </p:nvSpPr>
        <p:spPr>
          <a:xfrm>
            <a:off x="1275588" y="2788920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6538" y="2889870"/>
            <a:ext cx="218724" cy="2187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40080" y="327355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2606040" y="2660904"/>
            <a:ext cx="1874520" cy="1088136"/>
          </a:xfrm>
          <a:prstGeom prst="roundRect">
            <a:avLst>
              <a:gd name="adj" fmla="val 672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Shape 27"/>
          <p:cNvSpPr/>
          <p:nvPr/>
        </p:nvSpPr>
        <p:spPr>
          <a:xfrm>
            <a:off x="3332988" y="2788920"/>
            <a:ext cx="420624" cy="42062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3938" y="2889870"/>
            <a:ext cx="218724" cy="21872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697480" y="327355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Labeling faults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4663440" y="2660904"/>
            <a:ext cx="1874520" cy="1088136"/>
          </a:xfrm>
          <a:prstGeom prst="roundRect">
            <a:avLst>
              <a:gd name="adj" fmla="val 672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8" name="Shape 30"/>
          <p:cNvSpPr/>
          <p:nvPr/>
        </p:nvSpPr>
        <p:spPr>
          <a:xfrm>
            <a:off x="5390388" y="2788920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1338" y="2889870"/>
            <a:ext cx="218724" cy="21872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754880" y="327355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interpretability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6720840" y="2660904"/>
            <a:ext cx="1874520" cy="1088136"/>
          </a:xfrm>
          <a:prstGeom prst="roundRect">
            <a:avLst>
              <a:gd name="adj" fmla="val 672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2" name="Shape 33"/>
          <p:cNvSpPr/>
          <p:nvPr/>
        </p:nvSpPr>
        <p:spPr>
          <a:xfrm>
            <a:off x="7447788" y="2788920"/>
            <a:ext cx="420624" cy="420624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8738" y="2889870"/>
            <a:ext cx="218724" cy="21872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812280" y="327355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inference</a:t>
            </a:r>
            <a:endParaRPr lang="en-US" sz="1150" dirty="0"/>
          </a:p>
        </p:txBody>
      </p:sp>
      <p:sp>
        <p:nvSpPr>
          <p:cNvPr id="45" name="Shape 35"/>
          <p:cNvSpPr/>
          <p:nvPr/>
        </p:nvSpPr>
        <p:spPr>
          <a:xfrm>
            <a:off x="548640" y="3977640"/>
            <a:ext cx="8046720" cy="530352"/>
          </a:xfrm>
          <a:prstGeom prst="roundRect">
            <a:avLst>
              <a:gd name="adj" fmla="val 13793"/>
            </a:avLst>
          </a:prstGeom>
          <a:solidFill>
            <a:srgbClr val="0E2038"/>
          </a:solidFill>
          <a:ln w="15875">
            <a:solidFill>
              <a:srgbClr val="22D3EE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6" name="Text 36"/>
          <p:cNvSpPr/>
          <p:nvPr/>
        </p:nvSpPr>
        <p:spPr>
          <a:xfrm>
            <a:off x="804672" y="4069080"/>
            <a:ext cx="7534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A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exactly the issues engineers meet every day.</a:t>
            </a:r>
            <a:endParaRPr lang="en-US" sz="135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82" name="Signal underline"/>
          <p:cNvSpPr/>
          <p:nvPr/>
        </p:nvSpPr>
        <p:spPr>
          <a:xfrm>
            <a:off x="548640" y="965000"/>
            <a:ext cx="1828800" cy="80000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PRACTITIONER'S STACK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2"/>
          <p:cNvSpPr/>
          <p:nvPr/>
        </p:nvSpPr>
        <p:spPr>
          <a:xfrm>
            <a:off x="731520" y="16367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09928"/>
            <a:ext cx="310896" cy="3108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25880" y="1417320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800"/>
          </a:p>
        </p:txBody>
      </p:sp>
      <p:sp>
        <p:nvSpPr>
          <p:cNvPr id="17" name="Shape 14"/>
          <p:cNvSpPr/>
          <p:nvPr/>
        </p:nvSpPr>
        <p:spPr>
          <a:xfrm>
            <a:off x="3291840" y="1417320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Shape 15"/>
          <p:cNvSpPr/>
          <p:nvPr/>
        </p:nvSpPr>
        <p:spPr>
          <a:xfrm>
            <a:off x="3474720" y="16367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709928"/>
            <a:ext cx="310896" cy="3108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69080" y="1417320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NumPy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array computing</a:t>
            </a:r>
            <a:endParaRPr lang="en-US" sz="800"/>
          </a:p>
        </p:txBody>
      </p:sp>
      <p:sp>
        <p:nvSpPr>
          <p:cNvPr id="21" name="Shape 17"/>
          <p:cNvSpPr/>
          <p:nvPr/>
        </p:nvSpPr>
        <p:spPr>
          <a:xfrm>
            <a:off x="6035040" y="1417320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Shape 18"/>
          <p:cNvSpPr/>
          <p:nvPr/>
        </p:nvSpPr>
        <p:spPr>
          <a:xfrm>
            <a:off x="6217920" y="16367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709928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1417320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Pandas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toolkit</a:t>
            </a:r>
            <a:endParaRPr lang="en-US" sz="800"/>
          </a:p>
        </p:txBody>
      </p:sp>
      <p:sp>
        <p:nvSpPr>
          <p:cNvPr id="25" name="Shape 20"/>
          <p:cNvSpPr/>
          <p:nvPr/>
        </p:nvSpPr>
        <p:spPr>
          <a:xfrm>
            <a:off x="548640" y="2496312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Shape 21"/>
          <p:cNvSpPr/>
          <p:nvPr/>
        </p:nvSpPr>
        <p:spPr>
          <a:xfrm>
            <a:off x="73152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2788920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2496312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 algorithms</a:t>
            </a:r>
            <a:endParaRPr lang="en-US" sz="800"/>
          </a:p>
        </p:txBody>
      </p:sp>
      <p:sp>
        <p:nvSpPr>
          <p:cNvPr id="29" name="Shape 23"/>
          <p:cNvSpPr/>
          <p:nvPr/>
        </p:nvSpPr>
        <p:spPr>
          <a:xfrm>
            <a:off x="3291840" y="2496312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0" name="Shape 24"/>
          <p:cNvSpPr/>
          <p:nvPr/>
        </p:nvSpPr>
        <p:spPr>
          <a:xfrm>
            <a:off x="347472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2788920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69080" y="2496312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TensorFlow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800"/>
          </a:p>
        </p:txBody>
      </p:sp>
      <p:sp>
        <p:nvSpPr>
          <p:cNvPr id="33" name="Shape 26"/>
          <p:cNvSpPr/>
          <p:nvPr/>
        </p:nvSpPr>
        <p:spPr>
          <a:xfrm>
            <a:off x="6035040" y="2496312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Shape 27"/>
          <p:cNvSpPr/>
          <p:nvPr/>
        </p:nvSpPr>
        <p:spPr>
          <a:xfrm>
            <a:off x="621792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2788920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12280" y="2496312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800"/>
          </a:p>
        </p:txBody>
      </p:sp>
      <p:sp>
        <p:nvSpPr>
          <p:cNvPr id="37" name="Shape 29"/>
          <p:cNvSpPr/>
          <p:nvPr/>
        </p:nvSpPr>
        <p:spPr>
          <a:xfrm>
            <a:off x="548640" y="3575304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8" name="Shape 30"/>
          <p:cNvSpPr/>
          <p:nvPr/>
        </p:nvSpPr>
        <p:spPr>
          <a:xfrm>
            <a:off x="73152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3867912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325880" y="3575304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Keras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API</a:t>
            </a:r>
            <a:endParaRPr lang="en-US" sz="800"/>
          </a:p>
        </p:txBody>
      </p:sp>
      <p:sp>
        <p:nvSpPr>
          <p:cNvPr id="41" name="Shape 32"/>
          <p:cNvSpPr/>
          <p:nvPr/>
        </p:nvSpPr>
        <p:spPr>
          <a:xfrm>
            <a:off x="3291840" y="3575304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2" name="Shape 33"/>
          <p:cNvSpPr/>
          <p:nvPr/>
        </p:nvSpPr>
        <p:spPr>
          <a:xfrm>
            <a:off x="347472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7872" y="3867912"/>
            <a:ext cx="310896" cy="31089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4069080" y="3575304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Jupyter Notebook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notebooks</a:t>
            </a:r>
            <a:endParaRPr lang="en-US" sz="800"/>
          </a:p>
        </p:txBody>
      </p:sp>
      <p:sp>
        <p:nvSpPr>
          <p:cNvPr id="45" name="Shape 35"/>
          <p:cNvSpPr/>
          <p:nvPr/>
        </p:nvSpPr>
        <p:spPr>
          <a:xfrm>
            <a:off x="6035040" y="3575304"/>
            <a:ext cx="2560320" cy="896112"/>
          </a:xfrm>
          <a:prstGeom prst="roundRect">
            <a:avLst>
              <a:gd name="adj" fmla="val 8163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6" name="Shape 36"/>
          <p:cNvSpPr/>
          <p:nvPr/>
        </p:nvSpPr>
        <p:spPr>
          <a:xfrm>
            <a:off x="6217920" y="3794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1072" y="3867912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812280" y="3575304"/>
            <a:ext cx="1645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</a:t>
            </a:r>
          </a:p>
          <a:p>
            <a:pPr marL="0" indent="0">
              <a:buNone/>
            </a:pPr>
            <a:r>
              <a:rPr lang="en-US" sz="800">
                <a:solidFill>
                  <a:srgbClr val="9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80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83" name="Signal underline"/>
          <p:cNvSpPr/>
          <p:nvPr/>
        </p:nvSpPr>
        <p:spPr>
          <a:xfrm>
            <a:off x="548640" y="965000"/>
            <a:ext cx="1828800" cy="80000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548640" y="31089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486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8640" y="4828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</a:t>
            </a:r>
            <a:r>
              <a:rPr lang="en-US" sz="90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·  </a:t>
            </a:r>
            <a:r>
              <a:rPr lang="en-US" sz="90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0" y="48280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Learning…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3"/>
          <p:cNvSpPr/>
          <p:nvPr/>
        </p:nvSpPr>
        <p:spPr>
          <a:xfrm>
            <a:off x="713232" y="2093976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4"/>
          <p:cNvSpPr/>
          <p:nvPr/>
        </p:nvSpPr>
        <p:spPr>
          <a:xfrm>
            <a:off x="1280160" y="19659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learns patterns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663440" y="196596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Shape 16"/>
          <p:cNvSpPr/>
          <p:nvPr/>
        </p:nvSpPr>
        <p:spPr>
          <a:xfrm>
            <a:off x="4828032" y="2093976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7"/>
          <p:cNvSpPr/>
          <p:nvPr/>
        </p:nvSpPr>
        <p:spPr>
          <a:xfrm>
            <a:off x="5394960" y="196596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scales to massive datasets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48640" y="278892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Shape 19"/>
          <p:cNvSpPr/>
          <p:nvPr/>
        </p:nvSpPr>
        <p:spPr>
          <a:xfrm>
            <a:off x="713232" y="2916936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0"/>
          <p:cNvSpPr/>
          <p:nvPr/>
        </p:nvSpPr>
        <p:spPr>
          <a:xfrm>
            <a:off x="1280160" y="27889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supports engineers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63440" y="278892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Shape 22"/>
          <p:cNvSpPr/>
          <p:nvPr/>
        </p:nvSpPr>
        <p:spPr>
          <a:xfrm>
            <a:off x="4828032" y="2916936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3"/>
          <p:cNvSpPr/>
          <p:nvPr/>
        </p:nvSpPr>
        <p:spPr>
          <a:xfrm>
            <a:off x="5394960" y="27889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predicts failures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548640" y="361188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1" name="Shape 25"/>
          <p:cNvSpPr/>
          <p:nvPr/>
        </p:nvSpPr>
        <p:spPr>
          <a:xfrm>
            <a:off x="713232" y="3739896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26"/>
          <p:cNvSpPr/>
          <p:nvPr/>
        </p:nvSpPr>
        <p:spPr>
          <a:xfrm>
            <a:off x="1280160" y="36118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automates analysis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4663440" y="3611880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14304F"/>
          </a:solidFill>
          <a:ln w="12700">
            <a:solidFill>
              <a:srgbClr val="27496D"/>
            </a:solidFill>
            <a:prstDash val="solid"/>
          </a:ln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Shape 28"/>
          <p:cNvSpPr/>
          <p:nvPr/>
        </p:nvSpPr>
        <p:spPr>
          <a:xfrm>
            <a:off x="4828032" y="3739896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29"/>
          <p:cNvSpPr/>
          <p:nvPr/>
        </p:nvSpPr>
        <p:spPr>
          <a:xfrm>
            <a:off x="5394960" y="36118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enables smarter vehicles</a:t>
            </a:r>
            <a:endParaRPr lang="en-US" sz="1500" dirty="0"/>
          </a:p>
        </p:txBody>
      </p:sp>
      <p:pic>
        <p:nvPicPr>
          <p:cNvPr id="960" name="Vehicle mo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000" y="255000"/>
            <a:ext cx="438912" cy="438912"/>
          </a:xfrm>
          <a:prstGeom prst="rect">
            <a:avLst/>
          </a:prstGeom>
        </p:spPr>
      </p:pic>
      <p:sp>
        <p:nvSpPr>
          <p:cNvPr id="984" name="Signal underline"/>
          <p:cNvSpPr/>
          <p:nvPr/>
        </p:nvSpPr>
        <p:spPr>
          <a:xfrm>
            <a:off x="548640" y="965000"/>
            <a:ext cx="1828800" cy="80000"/>
          </a:xfrm>
          <a:custGeom>
            <a:avLst/>
            <a:gdLst/>
            <a:ahLst/>
            <a:cxnLst/>
            <a:rect l="0" t="0" r="2400" b="200"/>
            <a:pathLst>
              <a:path w="2400" h="200" fill="none">
                <a:moveTo>
                  <a:pt x="0" y="100"/>
                </a:moveTo>
                <a:quadBezTo>
                  <a:pt x="100" y="30"/>
                  <a:pt x="200" y="100"/>
                </a:quadBezTo>
                <a:quadBezTo>
                  <a:pt x="300" y="170"/>
                  <a:pt x="400" y="100"/>
                </a:quadBezTo>
                <a:quadBezTo>
                  <a:pt x="500" y="30"/>
                  <a:pt x="600" y="100"/>
                </a:quadBezTo>
                <a:quadBezTo>
                  <a:pt x="700" y="170"/>
                  <a:pt x="800" y="100"/>
                </a:quadBezTo>
                <a:quadBezTo>
                  <a:pt x="900" y="30"/>
                  <a:pt x="1000" y="100"/>
                </a:quadBezTo>
                <a:quadBezTo>
                  <a:pt x="1100" y="170"/>
                  <a:pt x="1200" y="100"/>
                </a:quadBezTo>
                <a:quadBezTo>
                  <a:pt x="1300" y="30"/>
                  <a:pt x="1400" y="100"/>
                </a:quadBezTo>
                <a:quadBezTo>
                  <a:pt x="1500" y="170"/>
                  <a:pt x="1600" y="100"/>
                </a:quadBezTo>
                <a:quadBezTo>
                  <a:pt x="1700" y="30"/>
                  <a:pt x="1800" y="100"/>
                </a:quadBezTo>
                <a:quadBezTo>
                  <a:pt x="1900" y="170"/>
                  <a:pt x="2000" y="100"/>
                </a:quadBezTo>
                <a:quadBezTo>
                  <a:pt x="2100" y="30"/>
                  <a:pt x="2200" y="100"/>
                </a:quadBezTo>
                <a:quadBezTo>
                  <a:pt x="2300" y="170"/>
                  <a:pt x="2400" y="100"/>
                </a:quadBezTo>
              </a:path>
            </a:pathLst>
          </a:custGeom>
          <a:noFill/>
          <a:ln w="19050" cap="rnd">
            <a:solidFill>
              <a:srgbClr val="22D3EE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ata-visualization-of-electric-vehicle-te_2026-07-01T12-39-57_image_DAS_0.jpg"/>
          <p:cNvPicPr>
            <a:picLocks noChangeAspect="1"/>
          </p:cNvPicPr>
          <p:nvPr/>
        </p:nvPicPr>
        <p:blipFill>
          <a:blip r:embed="rId3"/>
          <a:srcRect t="6272" b="627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A2F">
              <a:alpha val="5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</a:rPr>
              <a:t>VOLVO</a:t>
            </a:r>
            <a:r>
              <a:rPr lang="en-US" sz="1200" dirty="0">
                <a:solidFill>
                  <a:srgbClr val="BCCFE9"/>
                </a:solidFill>
              </a:rPr>
              <a:t>  ·  </a:t>
            </a:r>
            <a:r>
              <a:rPr lang="en-US" sz="1200" dirty="0">
                <a:solidFill>
                  <a:srgbClr val="BCC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for Vehicle Signal Analytics  ·  Mulubrhan A. Nerea</a:t>
            </a:r>
            <a:r>
              <a:rPr lang="en-US" sz="1200" dirty="0">
                <a:solidFill>
                  <a:srgbClr val="8FA6C4"/>
                </a:solidFill>
              </a:rPr>
              <a:t>  ·  </a:t>
            </a:r>
            <a:r>
              <a:rPr lang="en-US" sz="1200" dirty="0">
                <a:solidFill>
                  <a:srgbClr val="BCCFE9"/>
                </a:solidFill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fea2623-af8f-4fb8-b1cf-b63cc8e496aa}" enabled="1" method="Privileged" siteId="{81fa766e-a349-4867-8bf4-ab35e250a0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5659</TotalTime>
  <Words>1051</Words>
  <Application>Microsoft Office PowerPoint</Application>
  <PresentationFormat>On-screen Show (16:9)</PresentationFormat>
  <Paragraphs>298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Volvo Cars Group W11 Global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Nerea, Mulubrhan</dc:creator>
  <cp:lastModifiedBy>Nerea, Mulubrhan</cp:lastModifiedBy>
  <cp:revision>2</cp:revision>
  <dcterms:created xsi:type="dcterms:W3CDTF">2026-07-01T12:54:45Z</dcterms:created>
  <dcterms:modified xsi:type="dcterms:W3CDTF">2026-08-28T11:25:08Z</dcterms:modified>
</cp:coreProperties>
</file>